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evaluators and professors. Today I am proud to present our complete project design for DataPulse Fusion GRC, an enterprise-grade Governance, Risk, and Compliance system. Over the next 15 minutes, I will walk you through the business problem, proposed solution, system architecture, module designs, UML diagrams, database schema, and live working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gives the evaluators an immediate high-level snapshot of what makes this project exceptional: a production 3-tier stack, over 35 relational database tables, dynamic 5x5 heatmap calculations, and a resilient shadow store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contrast the existing enterprise pain points against our proposed solution. We show judges how our platform solves real-world industry problems while maintaining bulletproof API availability.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built on a clean 3-tier enterprise pattern. Next.js 15 delivers a ultra-fast frontend, Express 5 serves as an intelligent proxy gateway with security middleware, and Oracle Autonomous DB provides enterprise data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1 handles the end-to-end RCSA cycle: Provisioning, Risk Identification, Control Tagging, Mitigation, and Monitoring. Module 2 contains the mathematical engine that computes Inherent and Residual Risk scores on a 5x5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3 governs control registers and KRI metrics. Module 4 emphasizes our security features: user attribution middleware, anti-spam sanitization, and the shadow store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Use Case diagram highlights our 4 primary system personas: Risk Administrators, Risk Owners, Compliance Officers, and Executive Leaders, detailing their permissions and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Class Diagram displays the primary domain entities, their multiplicities, and key methods such as calculateInherent(), calculateResidual(), and cleanInput().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Activity diagram depicts the sequential workflow of an RCSA cycle, moving from cycle provisioning to risk identification, inherent assessment, control tagging, residual calculation, mitigation planning, and executive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Sequence diagram details communication between UI, Express Proxy, Oracle ORDS, and Shadow Store. If Oracle ORDS takes longer than 8 seconds, Express gracefully switches to the shadow store fallback to prevent UI freezing.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relational database schema hosted on Oracle Cloud comprises over 29 Master Lookup tables (per_mst_*) and 7 Transaction tables (per_trn_*), structured for optimal 3NF relational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State diagram defines the 5 lifecycle states of a risk item: Draft, Submitted, Under Assessment, Mitigation Pending, and Approved/Monitored, showing state transition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UI wireframe design focuses on sleek usability, accessibility, dark/light contrast, and clear visual hierarchy built with Tailwind CSS and Radix UI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summarize what has been fully built, verified, and deployed. All key QA recommendations (REC-01, REC-04, REC-07, REC-10) have been successfully implemented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specifically addresses the presentation judges, highlighting 5 key criteria why this project meets the highest standards of academic and engineering excellence.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DataPulse Fusion GRC delivers a production-ready, resilient risk management system. Future work includes AI-driven predictive risk scoring and automated compliance regulatory mapping.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EA5E9"/>
                </a:solidFill>
              </a:rPr>
              <a:t>DATAPULSE FUSION GRC</a:t>
            </a:r>
          </a:p>
          <a:p>
            <a:pPr>
              <a:spcAft>
                <a:spcPts val="2000"/>
              </a:spcAft>
            </a:pPr>
            <a:r>
              <a:rPr sz="2200">
                <a:solidFill>
                  <a:srgbClr val="FFFFFF"/>
                </a:solidFill>
              </a:rPr>
              <a:t>Enterprise Governance, Risk &amp; Compliance Management System</a:t>
            </a:r>
          </a:p>
          <a:p>
            <a:pPr>
              <a:spcAft>
                <a:spcPts val="2500"/>
              </a:spcAft>
            </a:pPr>
            <a:r>
              <a:rPr sz="1400" b="1">
                <a:solidFill>
                  <a:srgbClr val="14B8A6"/>
                </a:solidFill>
              </a:rPr>
              <a:t>Project Design Presentation • Complete System Architecture, UML Diagrams &amp; Database Design</a:t>
            </a:r>
          </a:p>
          <a:p>
            <a:r>
              <a:rPr sz="1200">
                <a:solidFill>
                  <a:srgbClr val="94A3B8"/>
                </a:solidFill>
              </a:rPr>
              <a:t>Tech Stack: Next.js 15 | React 19 | Express 5 | Oracle APEX Cloud ORDS | Tailwind CSS | PM2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Presented for Academic Evaluation &amp; Project Design Review | Confidential &amp; Proprietary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DATAPULSE FUSION GRC | COLLEGE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Executive Summary &amp; Project At-A-Glance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64592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  <a:r>
              <a:rPr b="1" sz="1500">
                <a:solidFill>
                  <a:srgbClr val="0F172A"/>
                </a:solidFill>
              </a:rPr>
              <a:t>Key Highlight #1: 3-Tier Architecture — </a:t>
            </a:r>
            <a:r>
              <a:rPr sz="1300">
                <a:solidFill>
                  <a:srgbClr val="64748B"/>
                </a:solidFill>
              </a:rPr>
              <a:t>Next.js 15 + Express 5 + Oracle APEX ORDS Cloud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6040"/>
            <a:ext cx="1109441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  <a:r>
              <a:rPr b="1" sz="1500">
                <a:solidFill>
                  <a:srgbClr val="0F172A"/>
                </a:solidFill>
              </a:rPr>
              <a:t>Key Highlight #2: 35+ Relational Tables — </a:t>
            </a:r>
            <a:r>
              <a:rPr sz="1300">
                <a:solidFill>
                  <a:srgbClr val="64748B"/>
                </a:solidFill>
              </a:rPr>
              <a:t>29 Master Lookup tables + 7 Transaction tables in 3NF 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1109441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  <a:r>
              <a:rPr b="1" sz="1500">
                <a:solidFill>
                  <a:srgbClr val="0F172A"/>
                </a:solidFill>
              </a:rPr>
              <a:t>Key Highlight #3: Dynamic 5x5 Heatmap — </a:t>
            </a:r>
            <a:r>
              <a:rPr sz="1300">
                <a:solidFill>
                  <a:srgbClr val="64748B"/>
                </a:solidFill>
              </a:rPr>
              <a:t>Real-time Impact (1-5) x Likelihood (1-5) risk rating computation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74920"/>
            <a:ext cx="1109441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  <a:r>
              <a:rPr b="1" sz="1500">
                <a:solidFill>
                  <a:srgbClr val="0F172A"/>
                </a:solidFill>
              </a:rPr>
              <a:t>Key Highlight #4: 100% API Resilience — </a:t>
            </a:r>
            <a:r>
              <a:rPr sz="1300">
                <a:solidFill>
                  <a:srgbClr val="64748B"/>
                </a:solidFill>
              </a:rPr>
              <a:t>Bounded 8s timeouts &amp; in-memory shadow store fallback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DATAPULSE FUSION GRC | COLLEGE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Problem Statement &amp;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64592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EF4444"/>
                </a:solidFill>
              </a:rPr>
              <a:t>[CURRENT CHALLENGES] </a:t>
            </a:r>
            <a:r>
              <a:rPr sz="1500" b="1">
                <a:solidFill>
                  <a:srgbClr val="0F172A"/>
                </a:solidFill>
              </a:rPr>
              <a:t>The Enterprise Problem (Pain Points)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Siloed Risk Registers: </a:t>
            </a:r>
            <a:r>
              <a:rPr b="0" sz="1150">
                <a:solidFill>
                  <a:srgbClr val="64748B"/>
                </a:solidFill>
              </a:rPr>
              <a:t>Organizations manage risks in disconnected Excel files with zero real-time organizational visibility.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Inconsistent Calculations: </a:t>
            </a:r>
            <a:r>
              <a:rPr b="0" sz="1150">
                <a:solidFill>
                  <a:srgbClr val="64748B"/>
                </a:solidFill>
              </a:rPr>
              <a:t>Differing teams use arbitrary formulas for inherent vs residual risk rating without standardized matrix rules.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Lack of Audit Traceability: </a:t>
            </a:r>
            <a:r>
              <a:rPr b="0" sz="1150">
                <a:solidFill>
                  <a:srgbClr val="64748B"/>
                </a:solidFill>
              </a:rPr>
              <a:t>Manual logs fail compliance audits due to absence of strict user attribution (X-User-*) and timestamps.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API Latency &amp; UI Freezes: </a:t>
            </a:r>
            <a:r>
              <a:rPr b="0" sz="1150">
                <a:solidFill>
                  <a:srgbClr val="64748B"/>
                </a:solidFill>
              </a:rPr>
              <a:t>Third-party cloud database delays (&gt;8s) cause frontend applications to hang silently.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Keyboard Mash Data Noise: </a:t>
            </a:r>
            <a:r>
              <a:rPr b="0" sz="1150">
                <a:solidFill>
                  <a:srgbClr val="64748B"/>
                </a:solidFill>
              </a:rPr>
              <a:t>Unsanitized user inputs introduce spam and corrupted text into risk registers.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10B981"/>
                </a:solidFill>
              </a:rPr>
              <a:t>[OUR PROPOSED SOLUTION] </a:t>
            </a:r>
            <a:r>
              <a:rPr sz="1500" b="1">
                <a:solidFill>
                  <a:srgbClr val="0F172A"/>
                </a:solidFill>
              </a:rPr>
              <a:t>The DataPulse Fusion Solution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Automated RCSA Engine: </a:t>
            </a:r>
            <a:r>
              <a:rPr b="0" sz="1150">
                <a:solidFill>
                  <a:srgbClr val="64748B"/>
                </a:solidFill>
              </a:rPr>
              <a:t>End-to-end Risk &amp; Control Self-Assessment workflow across Provisioning, Identification, Mitigation &amp; Monitoring.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Real-time 5x5 Heatmap: </a:t>
            </a:r>
            <a:r>
              <a:rPr b="0" sz="1150">
                <a:solidFill>
                  <a:srgbClr val="64748B"/>
                </a:solidFill>
              </a:rPr>
              <a:t>Dynamic interactive 5x5 grid computing inherent score (Max Impact x Max Likelihood) &amp; residual risk.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Oracle APEX ORDS Integration: </a:t>
            </a:r>
            <a:r>
              <a:rPr b="0" sz="1150">
                <a:solidFill>
                  <a:srgbClr val="64748B"/>
                </a:solidFill>
              </a:rPr>
              <a:t>Connected Express 5 REST API gateway with Oracle Cloud Autonomous Database.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Shadow Store Fallback: </a:t>
            </a:r>
            <a:r>
              <a:rPr b="0" sz="1150">
                <a:solidFill>
                  <a:srgbClr val="64748B"/>
                </a:solidFill>
              </a:rPr>
              <a:t>Intercepts 8s database timeouts and returns deterministic fallback objects, guaranteeing 100% UI uptime.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Security &amp; Anti-Junk Filter: </a:t>
            </a:r>
            <a:r>
              <a:rPr b="0" sz="1150">
                <a:solidFill>
                  <a:srgbClr val="64748B"/>
                </a:solidFill>
              </a:rPr>
              <a:t>Middleware attaches user identity and runs regex evaluation to reject spam strings.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DATAPULSE FUSION GRC | COLLEGE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System Architecture &amp; 3-Tier Enterprise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64592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0EA5E9"/>
                </a:solidFill>
              </a:rPr>
              <a:t>[CLIENT LAYER] </a:t>
            </a:r>
            <a:r>
              <a:rPr sz="1500" b="1">
                <a:solidFill>
                  <a:srgbClr val="0F172A"/>
                </a:solidFill>
              </a:rPr>
              <a:t>1. Presentation Tier (Frontend)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Core Framework: </a:t>
            </a:r>
            <a:r>
              <a:rPr b="0" sz="1150">
                <a:solidFill>
                  <a:srgbClr val="64748B"/>
                </a:solidFill>
              </a:rPr>
              <a:t>Next.js 15 App Router &amp; React 19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Styling &amp; Theme: </a:t>
            </a:r>
            <a:r>
              <a:rPr b="0" sz="1150">
                <a:solidFill>
                  <a:srgbClr val="64748B"/>
                </a:solidFill>
              </a:rPr>
              <a:t>Tailwind CSS v4 &amp; Lucide Icons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Micro-Interactions: </a:t>
            </a:r>
            <a:r>
              <a:rPr b="0" sz="1150">
                <a:solidFill>
                  <a:srgbClr val="64748B"/>
                </a:solidFill>
              </a:rPr>
              <a:t>Framer Motion animations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State Management: </a:t>
            </a:r>
            <a:r>
              <a:rPr b="0" sz="1150">
                <a:solidFill>
                  <a:srgbClr val="64748B"/>
                </a:solidFill>
              </a:rPr>
              <a:t>TanStack React Query v5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Form Validation: </a:t>
            </a:r>
            <a:r>
              <a:rPr b="0" sz="1150">
                <a:solidFill>
                  <a:srgbClr val="64748B"/>
                </a:solidFill>
              </a:rPr>
              <a:t>Zod Schemas &amp; React Hook Form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Live Deployment: </a:t>
            </a:r>
            <a:r>
              <a:rPr b="0" sz="1150">
                <a:solidFill>
                  <a:srgbClr val="64748B"/>
                </a:solidFill>
              </a:rPr>
              <a:t>Hostinger Cloud (datapulsefusion.com)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0F172A"/>
                </a:solidFill>
              </a:rPr>
              <a:t>[API GATEWAY] </a:t>
            </a:r>
            <a:r>
              <a:rPr sz="1500" b="1">
                <a:solidFill>
                  <a:srgbClr val="0F172A"/>
                </a:solidFill>
              </a:rPr>
              <a:t>2. Application Tier (API Proxy)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Runtime &amp; Gateway: </a:t>
            </a:r>
            <a:r>
              <a:rPr b="0" sz="1150">
                <a:solidFill>
                  <a:srgbClr val="64748B"/>
                </a:solidFill>
              </a:rPr>
              <a:t>Express 5.0 on Node.js runtime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HTTP Client: </a:t>
            </a:r>
            <a:r>
              <a:rPr b="0" sz="1150">
                <a:solidFill>
                  <a:srgbClr val="64748B"/>
                </a:solidFill>
              </a:rPr>
              <a:t>Axios with 8s bounded timeouts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Fault Resilience: </a:t>
            </a:r>
            <a:r>
              <a:rPr b="0" sz="1150">
                <a:solidFill>
                  <a:srgbClr val="64748B"/>
                </a:solidFill>
              </a:rPr>
              <a:t>In-memory Map shadow store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Sanitization: </a:t>
            </a:r>
            <a:r>
              <a:rPr b="0" sz="1150">
                <a:solidFill>
                  <a:srgbClr val="64748B"/>
                </a:solidFill>
              </a:rPr>
              <a:t>Consonant-run &amp; vowel-ratio regex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User Attribution: </a:t>
            </a:r>
            <a:r>
              <a:rPr b="0" sz="1150">
                <a:solidFill>
                  <a:srgbClr val="64748B"/>
                </a:solidFill>
              </a:rPr>
              <a:t>X-User-Id, Name, Role parser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Process Uptime: </a:t>
            </a:r>
            <a:r>
              <a:rPr b="0" sz="1150">
                <a:solidFill>
                  <a:srgbClr val="64748B"/>
                </a:solidFill>
              </a:rPr>
              <a:t>PM2 Daemon on Hostinger VPS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14B8A6"/>
                </a:solidFill>
              </a:rPr>
              <a:t>[ORACLE CLOUD DB] </a:t>
            </a:r>
            <a:r>
              <a:rPr sz="1500" b="1">
                <a:solidFill>
                  <a:srgbClr val="0F172A"/>
                </a:solidFill>
              </a:rPr>
              <a:t>3. Data Tier (Database Layer)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Database Engine: </a:t>
            </a:r>
            <a:r>
              <a:rPr b="0" sz="1150">
                <a:solidFill>
                  <a:srgbClr val="64748B"/>
                </a:solidFill>
              </a:rPr>
              <a:t>Oracle Cloud Autonomous DB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REST Adapter: </a:t>
            </a:r>
            <a:r>
              <a:rPr b="0" sz="1150">
                <a:solidFill>
                  <a:srgbClr val="64748B"/>
                </a:solidFill>
              </a:rPr>
              <a:t>Oracle APEX ORDS (REST Services)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Auth Protocol: </a:t>
            </a:r>
            <a:r>
              <a:rPr b="0" sz="1150">
                <a:solidFill>
                  <a:srgbClr val="64748B"/>
                </a:solidFill>
              </a:rPr>
              <a:t>OAuth2 Token / Client Credentials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Master Tables: </a:t>
            </a:r>
            <a:r>
              <a:rPr b="0" sz="1150">
                <a:solidFill>
                  <a:srgbClr val="64748B"/>
                </a:solidFill>
              </a:rPr>
              <a:t>29 per_mst_* lookup tables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Transaction Tables: </a:t>
            </a:r>
            <a:r>
              <a:rPr b="0" sz="1150">
                <a:solidFill>
                  <a:srgbClr val="64748B"/>
                </a:solidFill>
              </a:rPr>
              <a:t>7 per_trn_* transaction tables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Schema Safety: </a:t>
            </a:r>
            <a:r>
              <a:rPr b="0" sz="1150">
                <a:solidFill>
                  <a:srgbClr val="64748B"/>
                </a:solidFill>
              </a:rPr>
              <a:t>3NF relational schema with SQL DDL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DATAPULSE FUSION GRC | COLLEGE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Detailed Module Design: RCSA Lifecycle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64592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0EA5E9"/>
                </a:solidFill>
              </a:rPr>
              <a:t>[RCSA PIPELINE] </a:t>
            </a:r>
            <a:r>
              <a:rPr sz="1500" b="1">
                <a:solidFill>
                  <a:srgbClr val="0F172A"/>
                </a:solidFill>
              </a:rPr>
              <a:t>Module 1: RCSA Core Workflow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Provisioning (/rcsa/provisioning): </a:t>
            </a:r>
            <a:r>
              <a:rPr b="0" sz="1150">
                <a:solidFill>
                  <a:srgbClr val="64748B"/>
                </a:solidFill>
              </a:rPr>
              <a:t>Initialize assessment cycles, set deadlines, and assign business unit scopes.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Identification (/rcsa/identification): </a:t>
            </a:r>
            <a:r>
              <a:rPr b="0" sz="1150">
                <a:solidFill>
                  <a:srgbClr val="64748B"/>
                </a:solidFill>
              </a:rPr>
              <a:t>Log risk items, root causes, causal factors, and process mapping.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Control Tagging (/rcsa/.../controls): </a:t>
            </a:r>
            <a:r>
              <a:rPr b="0" sz="1150">
                <a:solidFill>
                  <a:srgbClr val="64748B"/>
                </a:solidFill>
              </a:rPr>
              <a:t>Map identified risks to master controls with frequency &amp; category tags.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Mitigation (/rcsa/mitigation): </a:t>
            </a:r>
            <a:r>
              <a:rPr b="0" sz="1150">
                <a:solidFill>
                  <a:srgbClr val="64748B"/>
                </a:solidFill>
              </a:rPr>
              <a:t>Build action plans, assign owners, target completion dates, and track status.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Monitoring (/rcsa/monitoring): </a:t>
            </a:r>
            <a:r>
              <a:rPr b="0" sz="1150">
                <a:solidFill>
                  <a:srgbClr val="64748B"/>
                </a:solidFill>
              </a:rPr>
              <a:t>Review risk levels periodically, conduct sign-offs, and lock 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F59E0B"/>
                </a:solidFill>
              </a:rPr>
              <a:t>[HEATMAP ENGINE] </a:t>
            </a:r>
            <a:r>
              <a:rPr sz="1500" b="1">
                <a:solidFill>
                  <a:srgbClr val="0F172A"/>
                </a:solidFill>
              </a:rPr>
              <a:t>Module 2: Dynamic 5x5 Heatmap Engine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Inherent Score Formula: </a:t>
            </a:r>
            <a:r>
              <a:rPr b="0" sz="1150">
                <a:solidFill>
                  <a:srgbClr val="64748B"/>
                </a:solidFill>
              </a:rPr>
              <a:t>Inherent Risk = Max Impact Rating (1-5) x Max Likelihood Rating (1-5).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Rating Matrix Bands: </a:t>
            </a:r>
            <a:r>
              <a:rPr b="0" sz="1150">
                <a:solidFill>
                  <a:srgbClr val="64748B"/>
                </a:solidFill>
              </a:rPr>
              <a:t>Low (1-5, Green), Medium (6-11, Yellow), High (12-19, Orange), Critical (20-25, Red).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Residual Score Formula: </a:t>
            </a:r>
            <a:r>
              <a:rPr b="0" sz="1150">
                <a:solidFill>
                  <a:srgbClr val="64748B"/>
                </a:solidFill>
              </a:rPr>
              <a:t>Residual Risk = Inherent Score x (1 - Control Effectiveness Discount).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Interactive Rendering: </a:t>
            </a:r>
            <a:r>
              <a:rPr b="0" sz="1150">
                <a:solidFill>
                  <a:srgbClr val="64748B"/>
                </a:solidFill>
              </a:rPr>
              <a:t>Dynamic SVG 5x5 grid with cell counts, clickable lists, and real-time refresh.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Filtering &amp; Drilldown: </a:t>
            </a:r>
            <a:r>
              <a:rPr b="0" sz="1150">
                <a:solidFill>
                  <a:srgbClr val="64748B"/>
                </a:solidFill>
              </a:rPr>
              <a:t>Filter heatmaps by Business Unit, Risk Category, and Assessment Cycle.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DATAPULSE FUSION GRC | COLLEGE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Detailed Module Design: Security &amp; Resiliency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64592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14B8A6"/>
                </a:solidFill>
              </a:rPr>
              <a:t>[CONTROLS &amp; KRI] </a:t>
            </a:r>
            <a:r>
              <a:rPr sz="1500" b="1">
                <a:solidFill>
                  <a:srgbClr val="0F172A"/>
                </a:solidFill>
              </a:rPr>
              <a:t>Module 3: Control &amp; KRI Engine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Master Control Catalog: </a:t>
            </a:r>
            <a:r>
              <a:rPr b="0" sz="1150">
                <a:solidFill>
                  <a:srgbClr val="64748B"/>
                </a:solidFill>
              </a:rPr>
              <a:t>Standardized repository of preventative, detective, and corrective controls.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Design Effectiveness: </a:t>
            </a:r>
            <a:r>
              <a:rPr b="0" sz="1150">
                <a:solidFill>
                  <a:srgbClr val="64748B"/>
                </a:solidFill>
              </a:rPr>
              <a:t>Evaluate controls as Effective (0.4), Partially Effective (0.2), or Ineffective (0.0).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Key Risk Indicators (KRI): </a:t>
            </a:r>
            <a:r>
              <a:rPr b="0" sz="1150">
                <a:solidFill>
                  <a:srgbClr val="64748B"/>
                </a:solidFill>
              </a:rPr>
              <a:t>Track quantitative metrics, set upper/lower threshold limits, and generate alerts.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Incident Logging: </a:t>
            </a:r>
            <a:r>
              <a:rPr b="0" sz="1150">
                <a:solidFill>
                  <a:srgbClr val="64748B"/>
                </a:solidFill>
              </a:rPr>
              <a:t>Record operational loss events, financial impact, and root cause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0F172A"/>
                </a:solidFill>
              </a:rPr>
              <a:t>[SECURITY CORE] </a:t>
            </a:r>
            <a:r>
              <a:rPr sz="1500" b="1">
                <a:solidFill>
                  <a:srgbClr val="0F172A"/>
                </a:solidFill>
              </a:rPr>
              <a:t>Module 4: Security &amp; Resiliency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User Attribution Middleware: </a:t>
            </a:r>
            <a:r>
              <a:rPr b="0" sz="1150">
                <a:solidFill>
                  <a:srgbClr val="64748B"/>
                </a:solidFill>
              </a:rPr>
              <a:t>Captures X-User-Id, Name &amp; Role on all REST calls for full auditability (REC-07).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Anti-Junk Input Filter: </a:t>
            </a:r>
            <a:r>
              <a:rPr b="0" sz="1150">
                <a:solidFill>
                  <a:srgbClr val="64748B"/>
                </a:solidFill>
              </a:rPr>
              <a:t>Regex engine detects consonant runs &amp; low vowel ratios to block spam strings (REC-10).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Shadow Store Fallback: </a:t>
            </a:r>
            <a:r>
              <a:rPr b="0" sz="1150">
                <a:solidFill>
                  <a:srgbClr val="64748B"/>
                </a:solidFill>
              </a:rPr>
              <a:t>In-memory Map maintains state if Oracle ORDS upstream times out (&gt;8s) (REC-01).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Audit Trail Logging: </a:t>
            </a:r>
            <a:r>
              <a:rPr b="0" sz="1150">
                <a:solidFill>
                  <a:srgbClr val="64748B"/>
                </a:solidFill>
              </a:rPr>
              <a:t>Immutable record of all CREATE, UPDATE, and DELETE operations across all tables.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DATAPULSE FUSION GRC | COLLEGE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UML Use Case Diagram: User Roles &amp; System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64592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560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0F172A"/>
                </a:solidFill>
              </a:rPr>
              <a:t>[ACTOR 1] </a:t>
            </a:r>
            <a:r>
              <a:rPr sz="1500" b="1">
                <a:solidFill>
                  <a:srgbClr val="0F172A"/>
                </a:solidFill>
              </a:rPr>
              <a:t>Risk Administrator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Provision Cycles: </a:t>
            </a:r>
            <a:r>
              <a:rPr b="0" sz="1150">
                <a:solidFill>
                  <a:srgbClr val="64748B"/>
                </a:solidFill>
              </a:rPr>
              <a:t>Create &amp; open new RCSA assessment cycles.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Master Registers: </a:t>
            </a:r>
            <a:r>
              <a:rPr b="0" sz="1150">
                <a:solidFill>
                  <a:srgbClr val="64748B"/>
                </a:solidFill>
              </a:rPr>
              <a:t>Manage control categories, impact tables, and org units.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User &amp; RBAC: </a:t>
            </a:r>
            <a:r>
              <a:rPr b="0" sz="1150">
                <a:solidFill>
                  <a:srgbClr val="64748B"/>
                </a:solidFill>
              </a:rPr>
              <a:t>Assign user roles and permissions.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560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0EA5E9"/>
                </a:solidFill>
              </a:rPr>
              <a:t>[ACTOR 2] </a:t>
            </a:r>
            <a:r>
              <a:rPr sz="1500" b="1">
                <a:solidFill>
                  <a:srgbClr val="0F172A"/>
                </a:solidFill>
              </a:rPr>
              <a:t>Risk Owner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Identify Risks: </a:t>
            </a:r>
            <a:r>
              <a:rPr b="0" sz="1150">
                <a:solidFill>
                  <a:srgbClr val="64748B"/>
                </a:solidFill>
              </a:rPr>
              <a:t>Log risks and link causal factors/statements.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Assess Inherent: </a:t>
            </a:r>
            <a:r>
              <a:rPr b="0" sz="1150">
                <a:solidFill>
                  <a:srgbClr val="64748B"/>
                </a:solidFill>
              </a:rPr>
              <a:t>Rate Impact (1-5) and Likelihood (1-5).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Tag Controls: </a:t>
            </a:r>
            <a:r>
              <a:rPr b="0" sz="1150">
                <a:solidFill>
                  <a:srgbClr val="64748B"/>
                </a:solidFill>
              </a:rPr>
              <a:t>Link master controls &amp; evaluate effectiveness.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Mitigation Plans: </a:t>
            </a:r>
            <a:r>
              <a:rPr b="0" sz="1150">
                <a:solidFill>
                  <a:srgbClr val="64748B"/>
                </a:solidFill>
              </a:rPr>
              <a:t>Draft and execute action plans.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60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14B8A6"/>
                </a:solidFill>
              </a:rPr>
              <a:t>[ACTOR 3] </a:t>
            </a:r>
            <a:r>
              <a:rPr sz="1500" b="1">
                <a:solidFill>
                  <a:srgbClr val="0F172A"/>
                </a:solidFill>
              </a:rPr>
              <a:t>Compliance Officer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Heatmap Analytics: </a:t>
            </a:r>
            <a:r>
              <a:rPr b="0" sz="1150">
                <a:solidFill>
                  <a:srgbClr val="64748B"/>
                </a:solidFill>
              </a:rPr>
              <a:t>View 5x5 inherent &amp; residual heatmaps.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KRI Monitoring: </a:t>
            </a:r>
            <a:r>
              <a:rPr b="0" sz="1150">
                <a:solidFill>
                  <a:srgbClr val="64748B"/>
                </a:solidFill>
              </a:rPr>
              <a:t>Track metrics &amp; threshold breach alerts.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Audit Trail: </a:t>
            </a:r>
            <a:r>
              <a:rPr b="0" sz="1150">
                <a:solidFill>
                  <a:srgbClr val="64748B"/>
                </a:solidFill>
              </a:rPr>
              <a:t>Review user action logs and system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371600"/>
            <a:ext cx="25603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F59E0B"/>
                </a:solidFill>
              </a:rPr>
              <a:t>[ACTOR 4] </a:t>
            </a:r>
            <a:r>
              <a:rPr sz="1500" b="1">
                <a:solidFill>
                  <a:srgbClr val="0F172A"/>
                </a:solidFill>
              </a:rPr>
              <a:t>Executive Leader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Dashboard KPIs: </a:t>
            </a:r>
            <a:r>
              <a:rPr b="0" sz="1150">
                <a:solidFill>
                  <a:srgbClr val="64748B"/>
                </a:solidFill>
              </a:rPr>
              <a:t>View high-level risk posture scorecards.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Appetite Check: </a:t>
            </a:r>
            <a:r>
              <a:rPr b="0" sz="1150">
                <a:solidFill>
                  <a:srgbClr val="64748B"/>
                </a:solidFill>
              </a:rPr>
              <a:t>Compare residual risk vs appetite limit.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Export Reports: </a:t>
            </a:r>
            <a:r>
              <a:rPr b="0" sz="1150">
                <a:solidFill>
                  <a:srgbClr val="64748B"/>
                </a:solidFill>
              </a:rPr>
              <a:t>Download executive summary PDFs/CSVs.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DATAPULSE FUSION GRC | COLLEGE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UML Class Diagram: Core Domain Entities &amp;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64592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0F172A"/>
                </a:solidFill>
              </a:rPr>
              <a:t>[ENTITIES] </a:t>
            </a:r>
            <a:r>
              <a:rPr sz="1500" b="1">
                <a:solidFill>
                  <a:srgbClr val="0F172A"/>
                </a:solidFill>
              </a:rPr>
              <a:t>Core Domain Entities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RiskItem: </a:t>
            </a:r>
            <a:r>
              <a:rPr b="0" sz="1150">
                <a:solidFill>
                  <a:srgbClr val="64748B"/>
                </a:solidFill>
              </a:rPr>
              <a:t>uuid, riskTitle, description, categoryId, status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InherentAssessment: </a:t>
            </a:r>
            <a:r>
              <a:rPr b="0" sz="1150">
                <a:solidFill>
                  <a:srgbClr val="64748B"/>
                </a:solidFill>
              </a:rPr>
              <a:t>id, riskId, impactRating, likelihoodRating, inherentScore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MasterControl: </a:t>
            </a:r>
            <a:r>
              <a:rPr b="0" sz="1150">
                <a:solidFill>
                  <a:srgbClr val="64748B"/>
                </a:solidFill>
              </a:rPr>
              <a:t>controlId, code, title, categoryId, frequencyId, effectiveness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MitigationPlan: </a:t>
            </a:r>
            <a:r>
              <a:rPr b="0" sz="1150">
                <a:solidFill>
                  <a:srgbClr val="64748B"/>
                </a:solidFill>
              </a:rPr>
              <a:t>planId, riskId, actionDetails, ownerId, targetDate, status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AuditLog: </a:t>
            </a:r>
            <a:r>
              <a:rPr b="0" sz="1150">
                <a:solidFill>
                  <a:srgbClr val="64748B"/>
                </a:solidFill>
              </a:rPr>
              <a:t>logId, action, entity, entityId, actorId, timestamp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0EA5E9"/>
                </a:solidFill>
              </a:rPr>
              <a:t>[RELATIONSHIPS] </a:t>
            </a:r>
            <a:r>
              <a:rPr sz="1500" b="1">
                <a:solidFill>
                  <a:srgbClr val="0F172A"/>
                </a:solidFill>
              </a:rPr>
              <a:t>Multiplicity &amp; Associations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Risk -&gt; Assessment: </a:t>
            </a:r>
            <a:r>
              <a:rPr b="0" sz="1150">
                <a:solidFill>
                  <a:srgbClr val="64748B"/>
                </a:solidFill>
              </a:rPr>
              <a:t>1 to 1 (Each risk has one inherent assessment).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Risk -&gt; Controls: </a:t>
            </a:r>
            <a:r>
              <a:rPr b="0" sz="1150">
                <a:solidFill>
                  <a:srgbClr val="64748B"/>
                </a:solidFill>
              </a:rPr>
              <a:t>1 to N (A risk maps to multiple master controls).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Risk -&gt; Mitigation: </a:t>
            </a:r>
            <a:r>
              <a:rPr b="0" sz="1150">
                <a:solidFill>
                  <a:srgbClr val="64748B"/>
                </a:solidFill>
              </a:rPr>
              <a:t>1 to N (A risk can have multiple mitigation plans).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Cycle -&gt; Risks: </a:t>
            </a:r>
            <a:r>
              <a:rPr b="0" sz="1150">
                <a:solidFill>
                  <a:srgbClr val="64748B"/>
                </a:solidFill>
              </a:rPr>
              <a:t>1 to N (An RCSA cycle contains multiple risks).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User -&gt; AuditLog: </a:t>
            </a:r>
            <a:r>
              <a:rPr b="0" sz="1150">
                <a:solidFill>
                  <a:srgbClr val="64748B"/>
                </a:solidFill>
              </a:rPr>
              <a:t>1 to N (User actions trigger audit entries).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10B981"/>
                </a:solidFill>
              </a:rPr>
              <a:t>[METHODS] </a:t>
            </a:r>
            <a:r>
              <a:rPr sz="1500" b="1">
                <a:solidFill>
                  <a:srgbClr val="0F172A"/>
                </a:solidFill>
              </a:rPr>
              <a:t>Key Operations &amp; Methods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calculateInherent(): </a:t>
            </a:r>
            <a:r>
              <a:rPr b="0" sz="1150">
                <a:solidFill>
                  <a:srgbClr val="64748B"/>
                </a:solidFill>
              </a:rPr>
              <a:t>Computes impact x likelihood rating.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calculateResidual(): </a:t>
            </a:r>
            <a:r>
              <a:rPr b="0" sz="1150">
                <a:solidFill>
                  <a:srgbClr val="64748B"/>
                </a:solidFill>
              </a:rPr>
              <a:t>Applies control effectiveness discount.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cleanInput(): </a:t>
            </a:r>
            <a:r>
              <a:rPr b="0" sz="1150">
                <a:solidFill>
                  <a:srgbClr val="64748B"/>
                </a:solidFill>
              </a:rPr>
              <a:t>Filters noise &amp; keyboard-mash text.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request(): </a:t>
            </a:r>
            <a:r>
              <a:rPr b="0" sz="1150">
                <a:solidFill>
                  <a:srgbClr val="64748B"/>
                </a:solidFill>
              </a:rPr>
              <a:t>Executes ORDS call with shadow fallback.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recordAudit(): </a:t>
            </a:r>
            <a:r>
              <a:rPr b="0" sz="1150">
                <a:solidFill>
                  <a:srgbClr val="64748B"/>
                </a:solidFill>
              </a:rPr>
              <a:t>Writes user-attributed action to 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DATAPULSE FUSION GRC | COLLEGE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UML Activity Diagram: RCSA Cycle Execution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64592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481328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1. Provision Cycle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Admin opens RCSA cycle for business unit.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1645920"/>
            <a:ext cx="1481328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Identify Risks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Owner enters risk details &amp; causal factors.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645920"/>
            <a:ext cx="1481328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3. Rate Inherent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Assign Impact &amp; Likelihood (1-5 matrix).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645920"/>
            <a:ext cx="1481328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4. Tag Controls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Map master controls &amp; design effectiveness.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645920"/>
            <a:ext cx="1481328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5. Calculate Residual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System computes residual risk rating.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645920"/>
            <a:ext cx="1481328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6. Mitigation Plan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Draft action plan if residual exceeds limit.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1645920"/>
            <a:ext cx="1481328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7. Sign-off &amp; Monitor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Management approves cycle &amp; monitors KRIs.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DATAPULSE FUSION GRC | COLLEGE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UML Sequence Diagram: REST API Proxy &amp; Shadow Fallback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64592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10B981"/>
                </a:solidFill>
              </a:rPr>
              <a:t>[ORDS SUCCESS] </a:t>
            </a:r>
            <a:r>
              <a:rPr sz="1500" b="1">
                <a:solidFill>
                  <a:srgbClr val="0F172A"/>
                </a:solidFill>
              </a:rPr>
              <a:t>Happy Path (Oracle ORDS Success &lt;= 8s)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1. User Form Submission: </a:t>
            </a:r>
            <a:r>
              <a:rPr b="0" sz="1150">
                <a:solidFill>
                  <a:srgbClr val="64748B"/>
                </a:solidFill>
              </a:rPr>
              <a:t>User fills risk form on Next.js frontend.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2. Request Interceptor: </a:t>
            </a:r>
            <a:r>
              <a:rPr b="0" sz="1150">
                <a:solidFill>
                  <a:srgbClr val="64748B"/>
                </a:solidFill>
              </a:rPr>
              <a:t>Attaches X-User-Id &amp; X-User-Name headers.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3. Express Middleware: </a:t>
            </a:r>
            <a:r>
              <a:rPr b="0" sz="1150">
                <a:solidFill>
                  <a:srgbClr val="64748B"/>
                </a:solidFill>
              </a:rPr>
              <a:t>Sanitizes input against keyboard-mash regex.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4. ORDS Rest Dispatch: </a:t>
            </a:r>
            <a:r>
              <a:rPr b="0" sz="1150">
                <a:solidFill>
                  <a:srgbClr val="64748B"/>
                </a:solidFill>
              </a:rPr>
              <a:t>Forwards POST to Oracle APEX Autonomous DB.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5. DB Persistence: </a:t>
            </a:r>
            <a:r>
              <a:rPr b="0" sz="1150">
                <a:solidFill>
                  <a:srgbClr val="64748B"/>
                </a:solidFill>
              </a:rPr>
              <a:t>Oracle executes INSERT SQL and returns 201 Created.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6. Shadow Sync: </a:t>
            </a:r>
            <a:r>
              <a:rPr b="0" sz="1150">
                <a:solidFill>
                  <a:srgbClr val="64748B"/>
                </a:solidFill>
              </a:rPr>
              <a:t>Express updates in-memory shadow store.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7. UI Toast Refresh: </a:t>
            </a:r>
            <a:r>
              <a:rPr b="0" sz="1150">
                <a:solidFill>
                  <a:srgbClr val="64748B"/>
                </a:solidFill>
              </a:rPr>
              <a:t>Frontend displays success toast &amp; updates heatmap.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F59E0B"/>
                </a:solidFill>
              </a:rPr>
              <a:t>[SHADOW FALLBACK] </a:t>
            </a:r>
            <a:r>
              <a:rPr sz="1500" b="1">
                <a:solidFill>
                  <a:srgbClr val="0F172A"/>
                </a:solidFill>
              </a:rPr>
              <a:t>Fallback Path (Oracle ORDS Timeout &gt; 8s)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1. Oracle Delay (&gt;8s): </a:t>
            </a:r>
            <a:r>
              <a:rPr b="0" sz="1150">
                <a:solidFill>
                  <a:srgbClr val="64748B"/>
                </a:solidFill>
              </a:rPr>
              <a:t>Upstream database drops connection or stalls.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2. Bounded Timeout: </a:t>
            </a:r>
            <a:r>
              <a:rPr b="0" sz="1150">
                <a:solidFill>
                  <a:srgbClr val="64748B"/>
                </a:solidFill>
              </a:rPr>
              <a:t>Express backend catches upstream timeout at 8s.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3. Shadow Store Write: </a:t>
            </a:r>
            <a:r>
              <a:rPr b="0" sz="1150">
                <a:solidFill>
                  <a:srgbClr val="64748B"/>
                </a:solidFill>
              </a:rPr>
              <a:t>Express immediately writes payload to shadow Map store.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4. Deterministic 200 OK: </a:t>
            </a:r>
            <a:r>
              <a:rPr b="0" sz="1150">
                <a:solidFill>
                  <a:srgbClr val="64748B"/>
                </a:solidFill>
              </a:rPr>
              <a:t>Express returns shadow object with generated UUID.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5. Zero UI Freeze: </a:t>
            </a:r>
            <a:r>
              <a:rPr b="0" sz="1150">
                <a:solidFill>
                  <a:srgbClr val="64748B"/>
                </a:solidFill>
              </a:rPr>
              <a:t>Frontend completes request seamlessly without hanging.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6. Async Audit Log: </a:t>
            </a:r>
            <a:r>
              <a:rPr b="0" sz="1150">
                <a:solidFill>
                  <a:srgbClr val="64748B"/>
                </a:solidFill>
              </a:rPr>
              <a:t>Audit logger records fallback event for admin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DATAPULSE FUSION GRC | COLLEGE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Database Design: Oracle APEX ORDS Relational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64592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0F172A"/>
                </a:solidFill>
              </a:rPr>
              <a:t>[29 MASTER TABLES] </a:t>
            </a:r>
            <a:r>
              <a:rPr sz="1500" b="1">
                <a:solidFill>
                  <a:srgbClr val="0F172A"/>
                </a:solidFill>
              </a:rPr>
              <a:t>Master Lookup Tables (per_mst_*)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per_mst_business_process: </a:t>
            </a:r>
            <a:r>
              <a:rPr b="0" sz="1150">
                <a:solidFill>
                  <a:srgbClr val="64748B"/>
                </a:solidFill>
              </a:rPr>
              <a:t>Business process definitions &amp; sub-processes.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per_mst_risk_statement: </a:t>
            </a:r>
            <a:r>
              <a:rPr b="0" sz="1150">
                <a:solidFill>
                  <a:srgbClr val="64748B"/>
                </a:solidFill>
              </a:rPr>
              <a:t>Standardized risk descriptions &amp; taxonomy.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per_mst_control_register: </a:t>
            </a:r>
            <a:r>
              <a:rPr b="0" sz="1150">
                <a:solidFill>
                  <a:srgbClr val="64748B"/>
                </a:solidFill>
              </a:rPr>
              <a:t>Master control catalog &amp; code mapping.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per_mst_control_category: </a:t>
            </a:r>
            <a:r>
              <a:rPr b="0" sz="1150">
                <a:solidFill>
                  <a:srgbClr val="64748B"/>
                </a:solidFill>
              </a:rPr>
              <a:t>Preventative, Detective, Corrective categories.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per_mst_control_frequency: </a:t>
            </a:r>
            <a:r>
              <a:rPr b="0" sz="1150">
                <a:solidFill>
                  <a:srgbClr val="64748B"/>
                </a:solidFill>
              </a:rPr>
              <a:t>Daily, Weekly, Monthly, Quarterly, Annual.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per_mst_impact &amp; likelihood: </a:t>
            </a:r>
            <a:r>
              <a:rPr b="0" sz="1150">
                <a:solidFill>
                  <a:srgbClr val="64748B"/>
                </a:solidFill>
              </a:rPr>
              <a:t>1-5 scale rating definitions &amp; descriptions.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per_mst_roles &amp; user_details: </a:t>
            </a:r>
            <a:r>
              <a:rPr b="0" sz="1150">
                <a:solidFill>
                  <a:srgbClr val="64748B"/>
                </a:solidFill>
              </a:rPr>
              <a:t>User profile and role permission mappings.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0EA5E9"/>
                </a:solidFill>
              </a:rPr>
              <a:t>[7 TRANSACTION TABLES] </a:t>
            </a:r>
            <a:r>
              <a:rPr sz="1500" b="1">
                <a:solidFill>
                  <a:srgbClr val="0F172A"/>
                </a:solidFill>
              </a:rPr>
              <a:t>Transaction Tables (per_trn_*)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per_trn_identify_risk: </a:t>
            </a:r>
            <a:r>
              <a:rPr b="0" sz="1150">
                <a:solidFill>
                  <a:srgbClr val="64748B"/>
                </a:solidFill>
              </a:rPr>
              <a:t>Core risk register storing identified risk instances.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per_trn_inherent_risk_assessment: </a:t>
            </a:r>
            <a:r>
              <a:rPr b="0" sz="1150">
                <a:solidFill>
                  <a:srgbClr val="64748B"/>
                </a:solidFill>
              </a:rPr>
              <a:t>Stores impact, likelihood &amp; inherent score.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per_trn_control_implementation: </a:t>
            </a:r>
            <a:r>
              <a:rPr b="0" sz="1150">
                <a:solidFill>
                  <a:srgbClr val="64748B"/>
                </a:solidFill>
              </a:rPr>
              <a:t>Links risks to implemented controls.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per_trn_mitigation_plans: </a:t>
            </a:r>
            <a:r>
              <a:rPr b="0" sz="1150">
                <a:solidFill>
                  <a:srgbClr val="64748B"/>
                </a:solidFill>
              </a:rPr>
              <a:t>Action plan details, owner, target dates.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per_trn_risk_monitoring: </a:t>
            </a:r>
            <a:r>
              <a:rPr b="0" sz="1150">
                <a:solidFill>
                  <a:srgbClr val="64748B"/>
                </a:solidFill>
              </a:rPr>
              <a:t>Periodic review history &amp; monitoring logs.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per_trn_impact_category: </a:t>
            </a:r>
            <a:r>
              <a:rPr b="0" sz="1150">
                <a:solidFill>
                  <a:srgbClr val="64748B"/>
                </a:solidFill>
              </a:rPr>
              <a:t>Detailed financial/operational impact breakdown.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DATAPULSE FUSION GRC | COLLEGE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UML State Diagram: Risk Item Lifecycle States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64592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b="1" sz="1400">
                <a:solidFill>
                  <a:srgbClr val="0F172A"/>
                </a:solidFill>
              </a:rPr>
              <a:t>State 1: DRAFT — </a:t>
            </a:r>
            <a:r>
              <a:rPr sz="1200">
                <a:solidFill>
                  <a:srgbClr val="1E293B"/>
                </a:solidFill>
              </a:rPr>
              <a:t>Risk identified but missing assessment ratings. Editable by owner.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b="1" sz="1400">
                <a:solidFill>
                  <a:srgbClr val="0F172A"/>
                </a:solidFill>
              </a:rPr>
              <a:t>State 2: SUBMITTED — </a:t>
            </a:r>
            <a:r>
              <a:rPr sz="1200">
                <a:solidFill>
                  <a:srgbClr val="1E293B"/>
                </a:solidFill>
              </a:rPr>
              <a:t>Inherent ratings assigned (Impact x Likelihood). Awaiting control tagging.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b="1" sz="1400">
                <a:solidFill>
                  <a:srgbClr val="0F172A"/>
                </a:solidFill>
              </a:rPr>
              <a:t>State 3: UNDER ASSESSMENT — </a:t>
            </a:r>
            <a:r>
              <a:rPr sz="1200">
                <a:solidFill>
                  <a:srgbClr val="1E293B"/>
                </a:solidFill>
              </a:rPr>
              <a:t>Controls mapped &amp; residual risk score computed.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b="1" sz="1400">
                <a:solidFill>
                  <a:srgbClr val="0F172A"/>
                </a:solidFill>
              </a:rPr>
              <a:t>State 4: MITIGATION PENDING — </a:t>
            </a:r>
            <a:r>
              <a:rPr sz="1200">
                <a:solidFill>
                  <a:srgbClr val="1E293B"/>
                </a:solidFill>
              </a:rPr>
              <a:t>Residual risk exceeds appetite limit; action plan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9496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b="1" sz="1400">
                <a:solidFill>
                  <a:srgbClr val="0F172A"/>
                </a:solidFill>
              </a:rPr>
              <a:t>State 5: APPROVED / MONITORED — </a:t>
            </a:r>
            <a:r>
              <a:rPr sz="1200">
                <a:solidFill>
                  <a:srgbClr val="1E293B"/>
                </a:solidFill>
              </a:rPr>
              <a:t>Controls &amp; mitigations verified. Monitored periodically.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DATAPULSE FUSION GRC | COLLEGE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User Interface &amp; Wireframe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64592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0EA5E9"/>
                </a:solidFill>
              </a:rPr>
              <a:t>[DASHBOARD] </a:t>
            </a:r>
            <a:r>
              <a:rPr sz="1500" b="1">
                <a:solidFill>
                  <a:srgbClr val="0F172A"/>
                </a:solidFill>
              </a:rPr>
              <a:t>1. Executive Dashboard UI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Summary KPI Cards: </a:t>
            </a:r>
            <a:r>
              <a:rPr b="0" sz="1150">
                <a:solidFill>
                  <a:srgbClr val="64748B"/>
                </a:solidFill>
              </a:rPr>
              <a:t>Total Risks, Critical Items, Active RCSA Cycles, Health Score.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Heatmap Preview: </a:t>
            </a:r>
            <a:r>
              <a:rPr b="0" sz="1150">
                <a:solidFill>
                  <a:srgbClr val="64748B"/>
                </a:solidFill>
              </a:rPr>
              <a:t>Compact 5x5 risk heat matrix.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Action Items: </a:t>
            </a:r>
            <a:r>
              <a:rPr b="0" sz="1150">
                <a:solidFill>
                  <a:srgbClr val="64748B"/>
                </a:solidFill>
              </a:rPr>
              <a:t>Pending approvals and overdue mitigation tasks.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14B8A6"/>
                </a:solidFill>
              </a:rPr>
              <a:t>[PROVISIONING] </a:t>
            </a:r>
            <a:r>
              <a:rPr sz="1500" b="1">
                <a:solidFill>
                  <a:srgbClr val="0F172A"/>
                </a:solidFill>
              </a:rPr>
              <a:t>2. RCSA Provisioning UI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Cycle Manager: </a:t>
            </a:r>
            <a:r>
              <a:rPr b="0" sz="1150">
                <a:solidFill>
                  <a:srgbClr val="64748B"/>
                </a:solidFill>
              </a:rPr>
              <a:t>Tabular view of active and archived RCSA cycles.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Provision Modal: </a:t>
            </a:r>
            <a:r>
              <a:rPr b="0" sz="1150">
                <a:solidFill>
                  <a:srgbClr val="64748B"/>
                </a:solidFill>
              </a:rPr>
              <a:t>Form to launch cycles with date pickers &amp; process selectors.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Status Badges: </a:t>
            </a:r>
            <a:r>
              <a:rPr b="0" sz="1150">
                <a:solidFill>
                  <a:srgbClr val="64748B"/>
                </a:solidFill>
              </a:rPr>
              <a:t>Visual pill badges indicating Draft, In Progress, or Closed.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0F172A"/>
                </a:solidFill>
              </a:rPr>
              <a:t>[HEATMAP &amp; MODALS] </a:t>
            </a:r>
            <a:r>
              <a:rPr sz="1500" b="1">
                <a:solidFill>
                  <a:srgbClr val="0F172A"/>
                </a:solidFill>
              </a:rPr>
              <a:t>3. Heatmap &amp; Controls UI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5x5 Dynamic Grid: </a:t>
            </a:r>
            <a:r>
              <a:rPr b="0" sz="1150">
                <a:solidFill>
                  <a:srgbClr val="64748B"/>
                </a:solidFill>
              </a:rPr>
              <a:t>Color-coded cells (Green/Yellow/Orange/Red).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Control Tagging Modal: </a:t>
            </a:r>
            <a:r>
              <a:rPr b="0" sz="1150">
                <a:solidFill>
                  <a:srgbClr val="64748B"/>
                </a:solidFill>
              </a:rPr>
              <a:t>Search master control register &amp; set effectiveness.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Toast Feedback: </a:t>
            </a:r>
            <a:r>
              <a:rPr b="0" sz="1150">
                <a:solidFill>
                  <a:srgbClr val="64748B"/>
                </a:solidFill>
              </a:rPr>
              <a:t>Instant Sonner toast notifications on save/update.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DATAPULSE FUSION GRC | COLLEGE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Working Implementation &amp; Demonstrated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64592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10B981"/>
                </a:solidFill>
              </a:rPr>
              <a:t>[PROVEN FEATURES] </a:t>
            </a:r>
            <a:r>
              <a:rPr sz="1500" b="1">
                <a:solidFill>
                  <a:srgbClr val="0F172A"/>
                </a:solidFill>
              </a:rPr>
              <a:t>Implemented Core Capabilities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Full CRUD Operations: </a:t>
            </a:r>
            <a:r>
              <a:rPr b="0" sz="1150">
                <a:solidFill>
                  <a:srgbClr val="64748B"/>
                </a:solidFill>
              </a:rPr>
              <a:t>Tested CRUD across 35+ master and transaction tables.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Live 5x5 Heatmap: </a:t>
            </a:r>
            <a:r>
              <a:rPr b="0" sz="1150">
                <a:solidFill>
                  <a:srgbClr val="64748B"/>
                </a:solidFill>
              </a:rPr>
              <a:t>Real-time calculation of Max Impact x Max Likelihood ratings.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Anti-Spam Validation: </a:t>
            </a:r>
            <a:r>
              <a:rPr b="0" sz="1150">
                <a:solidFill>
                  <a:srgbClr val="64748B"/>
                </a:solidFill>
              </a:rPr>
              <a:t>Automatic rejection of keyboard mash strings (REC-10).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Shadow Store Fallback: </a:t>
            </a:r>
            <a:r>
              <a:rPr b="0" sz="1150">
                <a:solidFill>
                  <a:srgbClr val="64748B"/>
                </a:solidFill>
              </a:rPr>
              <a:t>100% API uptime during upstream DB latency (REC-01).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User Audit Trail: </a:t>
            </a:r>
            <a:r>
              <a:rPr b="0" sz="1150">
                <a:solidFill>
                  <a:srgbClr val="64748B"/>
                </a:solidFill>
              </a:rPr>
              <a:t>User-attributed audit history captured via custom headers (REC-07).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0EA5E9"/>
                </a:solidFill>
              </a:rPr>
              <a:t>[CLOUD DEPLOYMENT] </a:t>
            </a:r>
            <a:r>
              <a:rPr sz="1500" b="1">
                <a:solidFill>
                  <a:srgbClr val="0F172A"/>
                </a:solidFill>
              </a:rPr>
              <a:t>Production Deployment &amp; Specs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Production Hostinger VPS: </a:t>
            </a:r>
            <a:r>
              <a:rPr b="0" sz="1150">
                <a:solidFill>
                  <a:srgbClr val="64748B"/>
                </a:solidFill>
              </a:rPr>
              <a:t>Backend API live at api.datapulsefusion.com.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Production Frontend: </a:t>
            </a:r>
            <a:r>
              <a:rPr b="0" sz="1150">
                <a:solidFill>
                  <a:srgbClr val="64748B"/>
                </a:solidFill>
              </a:rPr>
              <a:t>Next.js web client live at datapulsefusion.com.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PM2 Process Daemon: </a:t>
            </a:r>
            <a:r>
              <a:rPr b="0" sz="1150">
                <a:solidFill>
                  <a:srgbClr val="64748B"/>
                </a:solidFill>
              </a:rPr>
              <a:t>Daemonized process monitoring with zero-downtime reloads.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1E293B"/>
                </a:solidFill>
              </a:rPr>
              <a:t>• Docker Containerization: </a:t>
            </a:r>
            <a:r>
              <a:rPr b="0" sz="1150">
                <a:solidFill>
                  <a:srgbClr val="64748B"/>
                </a:solidFill>
              </a:rPr>
              <a:t>Dockerfile and docker-compose.yml included for containers.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DATAPULSE FUSION GRC | COLLEGE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Why This Project Stands Out (Judge Evaluation Rubric)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64592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b="1" sz="1400">
                <a:solidFill>
                  <a:srgbClr val="0F172A"/>
                </a:solidFill>
              </a:rPr>
              <a:t>1. Industry-Grade Relevance — </a:t>
            </a:r>
            <a:r>
              <a:rPr sz="1200">
                <a:solidFill>
                  <a:srgbClr val="1E293B"/>
                </a:solidFill>
              </a:rPr>
              <a:t>Solves a real-world enterprise GRC/ERM challenge faced by financial institutions and corporations.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b="1" sz="1400">
                <a:solidFill>
                  <a:srgbClr val="0F172A"/>
                </a:solidFill>
              </a:rPr>
              <a:t>2. Architectural Resilience — </a:t>
            </a:r>
            <a:r>
              <a:rPr sz="1200">
                <a:solidFill>
                  <a:srgbClr val="1E293B"/>
                </a:solidFill>
              </a:rPr>
              <a:t>Guarantees zero system hangs using an innovative in-memory shadow store fallback mechanism.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b="1" sz="1400">
                <a:solidFill>
                  <a:srgbClr val="0F172A"/>
                </a:solidFill>
              </a:rPr>
              <a:t>3. End-to-End Full-Stack Mastery — </a:t>
            </a:r>
            <a:r>
              <a:rPr sz="1200">
                <a:solidFill>
                  <a:srgbClr val="1E293B"/>
                </a:solidFill>
              </a:rPr>
              <a:t>Integrates Next.js 15, Express 5, and Oracle Autonomous DB into a seamless 3-tier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b="1" sz="1400">
                <a:solidFill>
                  <a:srgbClr val="0F172A"/>
                </a:solidFill>
              </a:rPr>
              <a:t>4. Security &amp; Audit Excellence — </a:t>
            </a:r>
            <a:r>
              <a:rPr sz="1200">
                <a:solidFill>
                  <a:srgbClr val="1E293B"/>
                </a:solidFill>
              </a:rPr>
              <a:t>Implements strict user attribution (X-User-*) and anti-spam regex input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9496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/>
            <a:r>
              <a:rPr b="1" sz="1400">
                <a:solidFill>
                  <a:srgbClr val="0F172A"/>
                </a:solidFill>
              </a:rPr>
              <a:t>5. Live Production Deployment — </a:t>
            </a:r>
            <a:r>
              <a:rPr sz="1200">
                <a:solidFill>
                  <a:srgbClr val="1E293B"/>
                </a:solidFill>
              </a:rPr>
              <a:t>Fully deployed on Hostinger VPS managed by PM2 process daemons and Docker containers.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0EA5E9"/>
                </a:solidFill>
              </a:rPr>
              <a:t>[SUMMARY] </a:t>
            </a:r>
            <a:r>
              <a:rPr sz="1500" b="1">
                <a:solidFill>
                  <a:srgbClr val="0EA5E9"/>
                </a:solidFill>
              </a:rPr>
              <a:t>Project Success Summary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F1F5F9"/>
                </a:solidFill>
              </a:rPr>
              <a:t>• Complete GRC System: </a:t>
            </a:r>
            <a:r>
              <a:rPr b="0" sz="1150">
                <a:solidFill>
                  <a:srgbClr val="94A3B8"/>
                </a:solidFill>
              </a:rPr>
              <a:t>Successfully designed and implemented an enterprise Governance, Risk &amp; Compliance platform.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F1F5F9"/>
                </a:solidFill>
              </a:rPr>
              <a:t>• Academic Distinction: </a:t>
            </a:r>
            <a:r>
              <a:rPr b="0" sz="1150">
                <a:solidFill>
                  <a:srgbClr val="94A3B8"/>
                </a:solidFill>
              </a:rPr>
              <a:t>Demonstrates software engineering best practices, 3-tier architecture, and enterprise DB design.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F1F5F9"/>
                </a:solidFill>
              </a:rPr>
              <a:t>• Bulletproof Uptime: </a:t>
            </a:r>
            <a:r>
              <a:rPr b="0" sz="1150">
                <a:solidFill>
                  <a:srgbClr val="94A3B8"/>
                </a:solidFill>
              </a:rPr>
              <a:t>Guaranteed system availability through shadow store caching and bounded timeouts.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b="1" sz="1100">
                <a:solidFill>
                  <a:srgbClr val="14B8A6"/>
                </a:solidFill>
              </a:rPr>
              <a:t>[ROADMAP] </a:t>
            </a:r>
            <a:r>
              <a:rPr sz="1500" b="1">
                <a:solidFill>
                  <a:srgbClr val="0EA5E9"/>
                </a:solidFill>
              </a:rPr>
              <a:t>Future Enhancements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F1F5F9"/>
                </a:solidFill>
              </a:rPr>
              <a:t>• AI Predictive Risk Scoring: </a:t>
            </a:r>
            <a:r>
              <a:rPr b="0" sz="1150">
                <a:solidFill>
                  <a:srgbClr val="94A3B8"/>
                </a:solidFill>
              </a:rPr>
              <a:t>Integrate LLM models to suggest risk ratings based on loss event descriptions.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F1F5F9"/>
                </a:solidFill>
              </a:rPr>
              <a:t>• Automated Regulatory Parsing: </a:t>
            </a:r>
            <a:r>
              <a:rPr b="0" sz="1150">
                <a:solidFill>
                  <a:srgbClr val="94A3B8"/>
                </a:solidFill>
              </a:rPr>
              <a:t>NLP parser to auto-map compliance laws (GDPR, ISO 27001, SOC 2) to control registers.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F1F5F9"/>
                </a:solidFill>
              </a:rPr>
              <a:t>• Mobile Native Companion App: </a:t>
            </a:r>
            <a:r>
              <a:rPr b="0" sz="1150">
                <a:solidFill>
                  <a:srgbClr val="94A3B8"/>
                </a:solidFill>
              </a:rPr>
              <a:t>React Native mobile app for field risk inspectors and mobile approvals.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