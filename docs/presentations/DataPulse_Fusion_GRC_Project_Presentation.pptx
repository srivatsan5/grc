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respected professors and evaluators. Today I am proud to present our project: DataPulse Fusion GRC (Pericope ERM), an enterprise-grade Governance, Risk, and Compliance system. This presentation will walk you through the problem statement, system architecture, detailed module design, complete UML diagrams, Oracle database integration, and UI/wireframe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details why this system was built. Traditional risk management relies on disconnected spreadsheets that lack real-time calculations and audit control. Our objective was to create a resilient, full-stack GRC system that automates RCSA cycles, provides dynamic heatmaps, and guarantees 100% API uptime using a shadow store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proposed solution, DataPulse Fusion GRC, is divided into three core pillars: Executive Governance, Operational RCSA Engine, and Resilient Technical Core. This provides a complete 360-degree risk management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follows a robust 3-tier design. Next.js 15 powers the modern frontend, Express 5 handles API orchestration and sanitization, and Oracle Autonomous Database with ORDS REST services manages enterprise data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1 manages the step-by-step RCSA lifecycle. Module 2 contains the mathematical engine that computes Inherent and Residual Risk scores using a standardized 5x5 Likelihood x Impact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3 governs control registration and Key Risk Indicators. Module 4 highlights our enterprise security features including user attribution, anti-spam sanitization algorithms, and shadow store resilience.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Use Case diagram highlights our 4 primary system personas: Risk Administrators, Risk Owners, Compliance Officers, and Executive Leadership, showing how each role interacts with the GRC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Class Diagram displays the domain entities, their multiplicities, and essential methods such as calculateInherent(), calculateResidual(), and cleanInput().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Activity diagram depicts the sequential workflow of an RCSA cycle, moving from cycle provisioning to risk identification, inherent assessment, control tagging, residual calculation, mitigation planning, and executive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Sequence diagram details the communication between the UI, Express Proxy, Oracle ORDS, and Shadow Store. If Oracle ORDS takes longer than 8 seconds, the Express server gracefully switches to the shadow store fallback to prevent UI freezing.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relational database schema hosted on Oracle Cloud comprises over 29 Master Lookup tables (per_mst_*) and 7 Transaction tables (per_trn_*), structured for optimal third-normal-form (3NF) relational integrity.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State diagram defines the 5 lifecycle states of a risk item: Draft, Submitted, Under Assessment, Mitigation Pending, and Approved/Monitored, showing state transition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UI wireframe design focuses on sleek usability, accessibility, dark/light contrast, and clear visual hierarchy built with Tailwind CSS and Radix UI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we summarize what has been fully built, verified, and deployed. All key QA recommendations (REC-01, REC-04, REC-07, REC-10) have been successfully implemented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DataPulse Fusion GRC delivers a production-ready, resilient risk management system. Future work includes AI-driven predictive risk scoring and automated compliance regulatory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EA5E9"/>
                </a:solidFill>
              </a:defRPr>
            </a:pPr>
            <a:r>
              <a:t>DATAPULSE FUSION GRC</a:t>
            </a:r>
          </a:p>
          <a:p>
            <a:pPr>
              <a:spcAft>
                <a:spcPts val="2000"/>
              </a:spcAft>
              <a:defRPr sz="2200">
                <a:solidFill>
                  <a:srgbClr val="FFFFFF"/>
                </a:solidFill>
              </a:defRPr>
            </a:pPr>
            <a:r>
              <a:t>Enterprise Governance, Risk &amp; Compliance Management Platform</a:t>
            </a:r>
          </a:p>
          <a:p>
            <a:pPr>
              <a:spcAft>
                <a:spcPts val="3000"/>
              </a:spcAft>
              <a:defRPr sz="1600" b="1">
                <a:solidFill>
                  <a:srgbClr val="14B8A6"/>
                </a:solidFill>
              </a:defRPr>
            </a:pPr>
            <a:r>
              <a:t>Full Stack Academic &amp; Technical Project Design Presentation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Architectural Overview • Dynamic RCSA Engine • ORDS API Integration • Resilient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College Project Design Presentation | System Architecture, Database Schema, UML &amp; Wireframes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DATAPULSE FUSION GRC | PROJECT DESIGN PRESENTATION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57200"/>
            <a:ext cx="13716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The Business Challenge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Siloed Risk Management: </a:t>
            </a:r>
            <a:r>
              <a:rPr b="0" sz="1200">
                <a:solidFill>
                  <a:srgbClr val="64748B"/>
                </a:solidFill>
              </a:rPr>
              <a:t>Traditional organizations rely on fragmented spreadsheets and manual email approvals, leading to delayed risk visibility.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Inconsistent Calculations: </a:t>
            </a:r>
            <a:r>
              <a:rPr b="0" sz="1200">
                <a:solidFill>
                  <a:srgbClr val="64748B"/>
                </a:solidFill>
              </a:rPr>
              <a:t>Risk assessments lack standardized formulas for inherent vs residual risk rating (Max Impact × Max Likelihood).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Lack of Audit Traceability: </a:t>
            </a:r>
            <a:r>
              <a:rPr b="0" sz="1200">
                <a:solidFill>
                  <a:srgbClr val="64748B"/>
                </a:solidFill>
              </a:rPr>
              <a:t>Manual logs fail compliance audits due to absence of strict user attribution, timestamps, and action records.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Fragile API Systems: </a:t>
            </a:r>
            <a:r>
              <a:rPr b="0" sz="1200">
                <a:solidFill>
                  <a:srgbClr val="64748B"/>
                </a:solidFill>
              </a:rPr>
              <a:t>Legacy backend API integrations freeze when upstream enterprise databases experience latency or connection timeouts.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Keyboard Mash Data Noise: </a:t>
            </a:r>
            <a:r>
              <a:rPr b="0" sz="1200">
                <a:solidFill>
                  <a:srgbClr val="64748B"/>
                </a:solidFill>
              </a:rPr>
              <a:t>Unsanitized user inputs introduce corrupted text into enterprise risk registers and executive reports.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Project Objectives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Automated RCSA Engine: </a:t>
            </a:r>
            <a:r>
              <a:rPr b="0" sz="1200">
                <a:solidFill>
                  <a:srgbClr val="64748B"/>
                </a:solidFill>
              </a:rPr>
              <a:t>Build an end-to-end Risk &amp; Control Self-Assessment workflow spanning Provisioning, Identification, Mitigation, and Monitoring.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Real-time 5x5 Heatmap: </a:t>
            </a:r>
            <a:r>
              <a:rPr b="0" sz="1200">
                <a:solidFill>
                  <a:srgbClr val="64748B"/>
                </a:solidFill>
              </a:rPr>
              <a:t>Implement dynamic 5x5 risk heatmaps that recalculate residual risk based on control design effectiveness.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Oracle APEX ORDS Integration: </a:t>
            </a:r>
            <a:r>
              <a:rPr b="0" sz="1200">
                <a:solidFill>
                  <a:srgbClr val="64748B"/>
                </a:solidFill>
              </a:rPr>
              <a:t>Connect a high-performance Express REST API backend with Oracle Cloud Autonomous Database ORDS services.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Fault-Tolerant Resilience: </a:t>
            </a:r>
            <a:r>
              <a:rPr b="0" sz="1200">
                <a:solidFill>
                  <a:srgbClr val="64748B"/>
                </a:solidFill>
              </a:rPr>
              <a:t>Implement bounded upstream timeouts (8s) and an in-memory shadow store fallback to prevent system hangs.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SEC-04 Audit Attribution: </a:t>
            </a:r>
            <a:r>
              <a:rPr b="0" sz="1200">
                <a:solidFill>
                  <a:srgbClr val="64748B"/>
                </a:solidFill>
              </a:rPr>
              <a:t>Attach user identity (X-User-* headers) and sanitize inputs against junk strings to ensure zero data noise.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DATAPULSE FUSION GRC | PROJECT DESIGN PRESENTATION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Proposed Solution: DataPulse Fusion GRC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57200"/>
            <a:ext cx="13716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1. Executive Governance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Central Dashboard: </a:t>
            </a:r>
            <a:r>
              <a:rPr b="0" sz="1200">
                <a:solidFill>
                  <a:srgbClr val="64748B"/>
                </a:solidFill>
              </a:rPr>
              <a:t>Unified control room with key KPIs, high-risk alerts, and compliance scorecards.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Risk Appetite Framework: </a:t>
            </a:r>
            <a:r>
              <a:rPr b="0" sz="1200">
                <a:solidFill>
                  <a:srgbClr val="64748B"/>
                </a:solidFill>
              </a:rPr>
              <a:t>Define organizational risk capacity, tolerance thresholds, and target risk levels.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Executive Reporting: </a:t>
            </a:r>
            <a:r>
              <a:rPr b="0" sz="1200">
                <a:solidFill>
                  <a:srgbClr val="64748B"/>
                </a:solidFill>
              </a:rPr>
              <a:t>Automated compliance export and PDF/CSV summary generation.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2. Operational RCSA Engine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Assessment Cycles: </a:t>
            </a:r>
            <a:r>
              <a:rPr b="0" sz="1200">
                <a:solidFill>
                  <a:srgbClr val="64748B"/>
                </a:solidFill>
              </a:rPr>
              <a:t>Schedule and provision RCSA cycles per business unit and sub-process.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Master Control Tagging: </a:t>
            </a:r>
            <a:r>
              <a:rPr b="0" sz="1200">
                <a:solidFill>
                  <a:srgbClr val="64748B"/>
                </a:solidFill>
              </a:rPr>
              <a:t>Link identified risks directly to standardized master control registers.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Residual Risk Engine: </a:t>
            </a:r>
            <a:r>
              <a:rPr b="0" sz="1200">
                <a:solidFill>
                  <a:srgbClr val="64748B"/>
                </a:solidFill>
              </a:rPr>
              <a:t>Compute post-control residual scores using impact mitigation formulas.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3. Resilient Technical Core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Oracle Cloud Backend: </a:t>
            </a:r>
            <a:r>
              <a:rPr b="0" sz="1200">
                <a:solidFill>
                  <a:srgbClr val="64748B"/>
                </a:solidFill>
              </a:rPr>
              <a:t>Structured relational schema with 35+ master and transaction tables.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Shadow Store Fallback: </a:t>
            </a:r>
            <a:r>
              <a:rPr b="0" sz="1200">
                <a:solidFill>
                  <a:srgbClr val="64748B"/>
                </a:solidFill>
              </a:rPr>
              <a:t>In-memory database caching that keeps UI functional even during database drops.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User Audit Attribution: </a:t>
            </a:r>
            <a:r>
              <a:rPr b="0" sz="1200">
                <a:solidFill>
                  <a:srgbClr val="64748B"/>
                </a:solidFill>
              </a:rPr>
              <a:t>Granular audit trail tracking X-User-Id, X-User-Name, and X-User-Role.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DATAPULSE FUSION GRC | PROJECT DESIGN PRESENTATION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System Architecture &amp; 3-Tier Enterprise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57200"/>
            <a:ext cx="13716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Presentation Tier (Frontend)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Framework: </a:t>
            </a:r>
            <a:r>
              <a:rPr b="0" sz="1200">
                <a:solidFill>
                  <a:srgbClr val="64748B"/>
                </a:solidFill>
              </a:rPr>
              <a:t>Next.js 15 App Router &amp; React 19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Styling: </a:t>
            </a:r>
            <a:r>
              <a:rPr b="0" sz="1200">
                <a:solidFill>
                  <a:srgbClr val="64748B"/>
                </a:solidFill>
              </a:rPr>
              <a:t>Tailwind CSS v4 &amp; Lucide Icons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Animation: </a:t>
            </a:r>
            <a:r>
              <a:rPr b="0" sz="1200">
                <a:solidFill>
                  <a:srgbClr val="64748B"/>
                </a:solidFill>
              </a:rPr>
              <a:t>Framer Motion micro-interactions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State &amp; Query: </a:t>
            </a:r>
            <a:r>
              <a:rPr b="0" sz="1200">
                <a:solidFill>
                  <a:srgbClr val="64748B"/>
                </a:solidFill>
              </a:rPr>
              <a:t>TanStack React Query v5 &amp; Context API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Validation: </a:t>
            </a:r>
            <a:r>
              <a:rPr b="0" sz="1200">
                <a:solidFill>
                  <a:srgbClr val="64748B"/>
                </a:solidFill>
              </a:rPr>
              <a:t>Zod Schema &amp; React Hook Form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Deployment: </a:t>
            </a:r>
            <a:r>
              <a:rPr b="0" sz="1200">
                <a:solidFill>
                  <a:srgbClr val="64748B"/>
                </a:solidFill>
              </a:rPr>
              <a:t>Hostinger Cloud (datapulsefusion.com)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Application Tier (API Proxy)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Server: </a:t>
            </a:r>
            <a:r>
              <a:rPr b="0" sz="1200">
                <a:solidFill>
                  <a:srgbClr val="64748B"/>
                </a:solidFill>
              </a:rPr>
              <a:t>Express 5.0 on Node.js runtime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HTTP Client: </a:t>
            </a:r>
            <a:r>
              <a:rPr b="0" sz="1200">
                <a:solidFill>
                  <a:srgbClr val="64748B"/>
                </a:solidFill>
              </a:rPr>
              <a:t>Axios with 12s/8s bounded timeouts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Shadow Cache: </a:t>
            </a:r>
            <a:r>
              <a:rPr b="0" sz="1200">
                <a:solidFill>
                  <a:srgbClr val="64748B"/>
                </a:solidFill>
              </a:rPr>
              <a:t>In-memory Map fallback store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Sanitization: </a:t>
            </a:r>
            <a:r>
              <a:rPr b="0" sz="1200">
                <a:solidFill>
                  <a:srgbClr val="64748B"/>
                </a:solidFill>
              </a:rPr>
              <a:t>Consonant-run &amp; vowel-ratio regex filter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Audit Middleware: </a:t>
            </a:r>
            <a:r>
              <a:rPr b="0" sz="1200">
                <a:solidFill>
                  <a:srgbClr val="64748B"/>
                </a:solidFill>
              </a:rPr>
              <a:t>X-User-* header attribution parser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Deployment: </a:t>
            </a:r>
            <a:r>
              <a:rPr b="0" sz="1200">
                <a:solidFill>
                  <a:srgbClr val="64748B"/>
                </a:solidFill>
              </a:rPr>
              <a:t>PM2 on VPS (api.datapulsefusion.com)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Data Tier (Database)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Database Engine: </a:t>
            </a:r>
            <a:r>
              <a:rPr b="0" sz="1200">
                <a:solidFill>
                  <a:srgbClr val="64748B"/>
                </a:solidFill>
              </a:rPr>
              <a:t>Oracle Cloud Autonomous DB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REST Adapter: </a:t>
            </a:r>
            <a:r>
              <a:rPr b="0" sz="1200">
                <a:solidFill>
                  <a:srgbClr val="64748B"/>
                </a:solidFill>
              </a:rPr>
              <a:t>Oracle APEX ORDS (REST Data Services)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Authentication: </a:t>
            </a:r>
            <a:r>
              <a:rPr b="0" sz="1200">
                <a:solidFill>
                  <a:srgbClr val="64748B"/>
                </a:solidFill>
              </a:rPr>
              <a:t>OAuth2 Token / Client Credentials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Master Tables: </a:t>
            </a:r>
            <a:r>
              <a:rPr b="0" sz="1200">
                <a:solidFill>
                  <a:srgbClr val="64748B"/>
                </a:solidFill>
              </a:rPr>
              <a:t>29 per_mst_* lookup tables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Txn Tables: </a:t>
            </a:r>
            <a:r>
              <a:rPr b="0" sz="1200">
                <a:solidFill>
                  <a:srgbClr val="64748B"/>
                </a:solidFill>
              </a:rPr>
              <a:t>7 per_trn_* transaction tables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Data Resilience: </a:t>
            </a:r>
            <a:r>
              <a:rPr b="0" sz="1200">
                <a:solidFill>
                  <a:srgbClr val="64748B"/>
                </a:solidFill>
              </a:rPr>
              <a:t>SQL DDL &amp; trigger auto-repair scripts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DATAPULSE FUSION GRC | PROJECT DESIGN PRESENTATION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Detailed Module Design: RCSA &amp; Risk Scoring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57200"/>
            <a:ext cx="13716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Module 1: RCSA Lifecycle Engine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Cycle Provisioning (/rcsa/provisioning): </a:t>
            </a:r>
            <a:r>
              <a:rPr b="0" sz="1200">
                <a:solidFill>
                  <a:srgbClr val="64748B"/>
                </a:solidFill>
              </a:rPr>
              <a:t>Initialize assessment cycles, set start/end deadlines, and assign business unit scopes.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Risk Identification (/rcsa/identification): </a:t>
            </a:r>
            <a:r>
              <a:rPr b="0" sz="1200">
                <a:solidFill>
                  <a:srgbClr val="64748B"/>
                </a:solidFill>
              </a:rPr>
              <a:t>Capture risk events, assign causal factors, root causes, and business processes.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Control Assignment (/rcsa/provisioning/[id]/controls): </a:t>
            </a:r>
            <a:r>
              <a:rPr b="0" sz="1200">
                <a:solidFill>
                  <a:srgbClr val="64748B"/>
                </a:solidFill>
              </a:rPr>
              <a:t>Map identified risks to master controls with frequency &amp; category tags.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Mitigation Workflow (/rcsa/mitigation): </a:t>
            </a:r>
            <a:r>
              <a:rPr b="0" sz="1200">
                <a:solidFill>
                  <a:srgbClr val="64748B"/>
                </a:solidFill>
              </a:rPr>
              <a:t>Formulate action plans, assign owners, target completion dates, and track status.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Monitoring &amp; Sign-off (/rcsa/monitoring): </a:t>
            </a:r>
            <a:r>
              <a:rPr b="0" sz="1200">
                <a:solidFill>
                  <a:srgbClr val="64748B"/>
                </a:solidFill>
              </a:rPr>
              <a:t>Review ongoing risk levels, conduct periodic re-assessments, and lock cycles.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Module 2: Dynamic 5x5 Heatmap Engine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Inherent Score Formula: </a:t>
            </a:r>
            <a:r>
              <a:rPr b="0" sz="1200">
                <a:solidFill>
                  <a:srgbClr val="64748B"/>
                </a:solidFill>
              </a:rPr>
              <a:t>Inherent Risk = Max Impact Rating (1-5) × Max Likelihood Rating (1-5).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Rating Matrix: </a:t>
            </a:r>
            <a:r>
              <a:rPr b="0" sz="1200">
                <a:solidFill>
                  <a:srgbClr val="64748B"/>
                </a:solidFill>
              </a:rPr>
              <a:t>Low (1-5, Green), Medium (6-11, Yellow), High (12-19, Orange), Critical (20-25, Red).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Residual Risk Calculation: </a:t>
            </a:r>
            <a:r>
              <a:rPr b="0" sz="1200">
                <a:solidFill>
                  <a:srgbClr val="64748B"/>
                </a:solidFill>
              </a:rPr>
              <a:t>Residual Risk = Inherent Risk × (1 - Control Effectiveness Factor).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Dynamic UI Rendering: </a:t>
            </a:r>
            <a:r>
              <a:rPr b="0" sz="1200">
                <a:solidFill>
                  <a:srgbClr val="64748B"/>
                </a:solidFill>
              </a:rPr>
              <a:t>Interactive 5x5 grid with cell counts, clickable risk lists, and real-time SVG heatmaps.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Filter &amp; Drilldown: </a:t>
            </a:r>
            <a:r>
              <a:rPr b="0" sz="1200">
                <a:solidFill>
                  <a:srgbClr val="64748B"/>
                </a:solidFill>
              </a:rPr>
              <a:t>Filter heatmap by Business Unit, Risk Category, and Assessment Cycle.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DATAPULSE FUSION GRC | PROJECT DESIGN PRESENTATION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Detailed Module Design: Control, KRI &amp;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57200"/>
            <a:ext cx="13716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Module 3: Control &amp; KRI Engine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Master Control Library: </a:t>
            </a:r>
            <a:r>
              <a:rPr b="0" sz="1200">
                <a:solidFill>
                  <a:srgbClr val="64748B"/>
                </a:solidFill>
              </a:rPr>
              <a:t>Standardized repository of preventative, detective, and corrective controls.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Design Effectiveness: </a:t>
            </a:r>
            <a:r>
              <a:rPr b="0" sz="1200">
                <a:solidFill>
                  <a:srgbClr val="64748B"/>
                </a:solidFill>
              </a:rPr>
              <a:t>Evaluate controls as Effective, Partially Effective, or Ineffective.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Key Risk Indicators (KRI): </a:t>
            </a:r>
            <a:r>
              <a:rPr b="0" sz="1200">
                <a:solidFill>
                  <a:srgbClr val="64748B"/>
                </a:solidFill>
              </a:rPr>
              <a:t>Track quantitative metrics, set upper/lower threshold limits, and generate breach alerts.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Incident &amp; Loss Event Logging: </a:t>
            </a:r>
            <a:r>
              <a:rPr b="0" sz="1200">
                <a:solidFill>
                  <a:srgbClr val="64748B"/>
                </a:solidFill>
              </a:rPr>
              <a:t>Record operational loss incidents, financial impact, and root cause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Module 4: Security, Audit &amp; Resiliency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User Attribution Middleware: </a:t>
            </a:r>
            <a:r>
              <a:rPr b="0" sz="1200">
                <a:solidFill>
                  <a:srgbClr val="64748B"/>
                </a:solidFill>
              </a:rPr>
              <a:t>Captures X-User-Id, X-User-Name, and X-User-Role on all REST calls (REC-07).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Junk Input Sanitization: </a:t>
            </a:r>
            <a:r>
              <a:rPr b="0" sz="1200">
                <a:solidFill>
                  <a:srgbClr val="64748B"/>
                </a:solidFill>
              </a:rPr>
              <a:t>Regex engine detects consonant runs &amp; low vowel ratios to block spam/mash strings (REC-10).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Shadow Store Fallback: </a:t>
            </a:r>
            <a:r>
              <a:rPr b="0" sz="1200">
                <a:solidFill>
                  <a:srgbClr val="64748B"/>
                </a:solidFill>
              </a:rPr>
              <a:t>In-memory Map maintains state if Oracle ORDS upstream times out (&gt;8s) (REC-01).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Audit Trail Logging: </a:t>
            </a:r>
            <a:r>
              <a:rPr b="0" sz="1200">
                <a:solidFill>
                  <a:srgbClr val="64748B"/>
                </a:solidFill>
              </a:rPr>
              <a:t>Immutable record of all CREATE, UPDATE, and DELETE operations across all tables.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DATAPULSE FUSION GRC | PROJECT DESIGN PRESENTATION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UML Use Case Diagram: User Roles &amp; Core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57200"/>
            <a:ext cx="13716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Risk Administrator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Provision Cycles: </a:t>
            </a:r>
            <a:r>
              <a:rPr b="0" sz="1200">
                <a:solidFill>
                  <a:srgbClr val="64748B"/>
                </a:solidFill>
              </a:rPr>
              <a:t>Create &amp; open new RCSA assessment cycles.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Master Registers: </a:t>
            </a:r>
            <a:r>
              <a:rPr b="0" sz="1200">
                <a:solidFill>
                  <a:srgbClr val="64748B"/>
                </a:solidFill>
              </a:rPr>
              <a:t>Manage control categories, impact tables, and org units.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User &amp; RBAC: </a:t>
            </a:r>
            <a:r>
              <a:rPr b="0" sz="1200">
                <a:solidFill>
                  <a:srgbClr val="64748B"/>
                </a:solidFill>
              </a:rPr>
              <a:t>Assign user roles and permissions.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Risk Owner / Manager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Identify Risks: </a:t>
            </a:r>
            <a:r>
              <a:rPr b="0" sz="1200">
                <a:solidFill>
                  <a:srgbClr val="64748B"/>
                </a:solidFill>
              </a:rPr>
              <a:t>Log risks and link causal factors/statements.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Assess Inherent: </a:t>
            </a:r>
            <a:r>
              <a:rPr b="0" sz="1200">
                <a:solidFill>
                  <a:srgbClr val="64748B"/>
                </a:solidFill>
              </a:rPr>
              <a:t>Rate Impact (1-5) and Likelihood (1-5).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Tag Controls: </a:t>
            </a:r>
            <a:r>
              <a:rPr b="0" sz="1200">
                <a:solidFill>
                  <a:srgbClr val="64748B"/>
                </a:solidFill>
              </a:rPr>
              <a:t>Link master controls &amp; evaluate effectiveness.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Mitigation Plans: </a:t>
            </a:r>
            <a:r>
              <a:rPr b="0" sz="1200">
                <a:solidFill>
                  <a:srgbClr val="64748B"/>
                </a:solidFill>
              </a:rPr>
              <a:t>Draft and execute mitigation action plans.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2468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Compliance Officer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Heatmap Analytics: </a:t>
            </a:r>
            <a:r>
              <a:rPr b="0" sz="1200">
                <a:solidFill>
                  <a:srgbClr val="64748B"/>
                </a:solidFill>
              </a:rPr>
              <a:t>View 5x5 inherent &amp; residual heatmaps.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KRI Monitoring: </a:t>
            </a:r>
            <a:r>
              <a:rPr b="0" sz="1200">
                <a:solidFill>
                  <a:srgbClr val="64748B"/>
                </a:solidFill>
              </a:rPr>
              <a:t>Monitor metrics &amp; threshold breach alerts.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Audit Trail: </a:t>
            </a:r>
            <a:r>
              <a:rPr b="0" sz="1200">
                <a:solidFill>
                  <a:srgbClr val="64748B"/>
                </a:solidFill>
              </a:rPr>
              <a:t>Review user action logs and system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463040"/>
            <a:ext cx="2468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Executive Leader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Dashboard KPIs: </a:t>
            </a:r>
            <a:r>
              <a:rPr b="0" sz="1200">
                <a:solidFill>
                  <a:srgbClr val="64748B"/>
                </a:solidFill>
              </a:rPr>
              <a:t>View high-level organizational risk posture.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Appetite Check: </a:t>
            </a:r>
            <a:r>
              <a:rPr b="0" sz="1200">
                <a:solidFill>
                  <a:srgbClr val="64748B"/>
                </a:solidFill>
              </a:rPr>
              <a:t>Compare residual risk vs appetite threshold.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Export Reports: </a:t>
            </a:r>
            <a:r>
              <a:rPr b="0" sz="1200">
                <a:solidFill>
                  <a:srgbClr val="64748B"/>
                </a:solidFill>
              </a:rPr>
              <a:t>Download executive summary PDFs/CSVs.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DATAPULSE FUSION GRC | PROJECT DESIGN PRESENTATION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UML Class Diagram: Core Data Domain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57200"/>
            <a:ext cx="13716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Core Entities &amp; Attributes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RiskItem: </a:t>
            </a:r>
            <a:r>
              <a:rPr b="0" sz="1200">
                <a:solidFill>
                  <a:srgbClr val="64748B"/>
                </a:solidFill>
              </a:rPr>
              <a:t>id, title, description, risk_category_id, process_id, status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InherentAssessment: </a:t>
            </a:r>
            <a:r>
              <a:rPr b="0" sz="1200">
                <a:solidFill>
                  <a:srgbClr val="64748B"/>
                </a:solidFill>
              </a:rPr>
              <a:t>id, risk_id, impact_rating, likelihood_rating, inherent_score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ControlItem: </a:t>
            </a:r>
            <a:r>
              <a:rPr b="0" sz="1200">
                <a:solidFill>
                  <a:srgbClr val="64748B"/>
                </a:solidFill>
              </a:rPr>
              <a:t>id, code, title, category_id, type_id, frequency_id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MitigationPlan: </a:t>
            </a:r>
            <a:r>
              <a:rPr b="0" sz="1200">
                <a:solidFill>
                  <a:srgbClr val="64748B"/>
                </a:solidFill>
              </a:rPr>
              <a:t>id, risk_id, action_details, owner_id, target_date, status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AuditLog: </a:t>
            </a:r>
            <a:r>
              <a:rPr b="0" sz="1200">
                <a:solidFill>
                  <a:srgbClr val="64748B"/>
                </a:solidFill>
              </a:rPr>
              <a:t>id, action, entity, entity_id, actor_id, actor_name, timestamp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Relationships &amp; Multiplicity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Risk -&gt; Assessment: </a:t>
            </a:r>
            <a:r>
              <a:rPr b="0" sz="1200">
                <a:solidFill>
                  <a:srgbClr val="64748B"/>
                </a:solidFill>
              </a:rPr>
              <a:t>1 to 1 (Each risk has one inherent assessment).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Risk -&gt; Controls: </a:t>
            </a:r>
            <a:r>
              <a:rPr b="0" sz="1200">
                <a:solidFill>
                  <a:srgbClr val="64748B"/>
                </a:solidFill>
              </a:rPr>
              <a:t>1 to N (A risk can be linked to multiple controls).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Risk -&gt; Mitigation: </a:t>
            </a:r>
            <a:r>
              <a:rPr b="0" sz="1200">
                <a:solidFill>
                  <a:srgbClr val="64748B"/>
                </a:solidFill>
              </a:rPr>
              <a:t>1 to N (A risk can have multiple action plans).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Cycle -&gt; Risks: </a:t>
            </a:r>
            <a:r>
              <a:rPr b="0" sz="1200">
                <a:solidFill>
                  <a:srgbClr val="64748B"/>
                </a:solidFill>
              </a:rPr>
              <a:t>1 to N (An RCSA cycle contains multiple risks).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User -&gt; AuditLog: </a:t>
            </a:r>
            <a:r>
              <a:rPr b="0" sz="1200">
                <a:solidFill>
                  <a:srgbClr val="64748B"/>
                </a:solidFill>
              </a:rPr>
              <a:t>1 to N (User actions produce immutable audit entries).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Key Operations &amp; Methods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RiskItem.calculateInherent(): </a:t>
            </a:r>
            <a:r>
              <a:rPr b="0" sz="1200">
                <a:solidFill>
                  <a:srgbClr val="64748B"/>
                </a:solidFill>
              </a:rPr>
              <a:t>Computes impact × likelihood.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RiskItem.calculateResidual(): </a:t>
            </a:r>
            <a:r>
              <a:rPr b="0" sz="1200">
                <a:solidFill>
                  <a:srgbClr val="64748B"/>
                </a:solidFill>
              </a:rPr>
              <a:t>Applies control effectiveness discount.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Sanitizer.cleanInput(): </a:t>
            </a:r>
            <a:r>
              <a:rPr b="0" sz="1200">
                <a:solidFill>
                  <a:srgbClr val="64748B"/>
                </a:solidFill>
              </a:rPr>
              <a:t>Filters noise &amp; keyboard-mash strings.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OracleService.request(): </a:t>
            </a:r>
            <a:r>
              <a:rPr b="0" sz="1200">
                <a:solidFill>
                  <a:srgbClr val="64748B"/>
                </a:solidFill>
              </a:rPr>
              <a:t>Executes ORDS call with shadow store fallback.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AuditLogger.record(): </a:t>
            </a:r>
            <a:r>
              <a:rPr b="0" sz="1200">
                <a:solidFill>
                  <a:srgbClr val="64748B"/>
                </a:solidFill>
              </a:rPr>
              <a:t>Writes user-attributed action to log.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DATAPULSE FUSION GRC | PROJECT DESIGN PRESENTATION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UML Activity Diagram: End-to-End RCSA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57200"/>
            <a:ext cx="13716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41732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1. Provision Cycle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Admin opens RCSA cycle for business unit.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76856" y="2011680"/>
            <a:ext cx="1417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2. Identify Risks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Risk Owner enters risk details &amp; causal factors.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22191" y="2011680"/>
            <a:ext cx="141732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3. Rate Inherent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Assign Impact &amp; Likelihood (1-5 matrix).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67527" y="2011680"/>
            <a:ext cx="1417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4. Tag Controls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Map master controls &amp; design effectiveness.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12863" y="2011680"/>
            <a:ext cx="141732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5. Calculate Residual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System computes residual risk rating.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199" y="2011680"/>
            <a:ext cx="1417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6. Mitigation Plan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</a:defRPr>
            </a:pPr>
            <a:r>
              <a:t>Draft action plan if residual exceeds threshold.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03535" y="2011680"/>
            <a:ext cx="141732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7. Sign-off &amp; Monitor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</a:defRPr>
            </a:pPr>
            <a:r>
              <a:t>Management approves cycle &amp; monitors KRIs.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DATAPULSE FUSION GRC | PROJECT DESIGN PRESENTATION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UML Sequence Diagram: Resilient REST API Payload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57200"/>
            <a:ext cx="13716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Happy Path (Oracle ORDS Success)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1. User Form Submission: </a:t>
            </a:r>
            <a:r>
              <a:rPr b="0" sz="1200">
                <a:solidFill>
                  <a:srgbClr val="64748B"/>
                </a:solidFill>
              </a:rPr>
              <a:t>User fills risk form on Next.js frontend.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2. Request Interceptor: </a:t>
            </a:r>
            <a:r>
              <a:rPr b="0" sz="1200">
                <a:solidFill>
                  <a:srgbClr val="64748B"/>
                </a:solidFill>
              </a:rPr>
              <a:t>Attaches X-User-Id &amp; X-User-Name headers.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3. Express Middleware: </a:t>
            </a:r>
            <a:r>
              <a:rPr b="0" sz="1200">
                <a:solidFill>
                  <a:srgbClr val="64748B"/>
                </a:solidFill>
              </a:rPr>
              <a:t>Sanitizes input against keyboard-mash regex.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4. ORDS Rest Dispatch: </a:t>
            </a:r>
            <a:r>
              <a:rPr b="0" sz="1200">
                <a:solidFill>
                  <a:srgbClr val="64748B"/>
                </a:solidFill>
              </a:rPr>
              <a:t>Forwards POST to Oracle APEX Autonomous DB.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5. DB Persistence: </a:t>
            </a:r>
            <a:r>
              <a:rPr b="0" sz="1200">
                <a:solidFill>
                  <a:srgbClr val="64748B"/>
                </a:solidFill>
              </a:rPr>
              <a:t>Oracle executes INSERT SQL and returns 201 Created.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6. Shadow Sync: </a:t>
            </a:r>
            <a:r>
              <a:rPr b="0" sz="1200">
                <a:solidFill>
                  <a:srgbClr val="64748B"/>
                </a:solidFill>
              </a:rPr>
              <a:t>Express updates in-memory shadow store.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7. UI Toast Refresh: </a:t>
            </a:r>
            <a:r>
              <a:rPr b="0" sz="1200">
                <a:solidFill>
                  <a:srgbClr val="64748B"/>
                </a:solidFill>
              </a:rPr>
              <a:t>Frontend displays success toast &amp; updates heatmap.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Fallback Path (Oracle ORDS Timeout)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1. Oracle Delay (&gt;8s): </a:t>
            </a:r>
            <a:r>
              <a:rPr b="0" sz="1200">
                <a:solidFill>
                  <a:srgbClr val="64748B"/>
                </a:solidFill>
              </a:rPr>
              <a:t>Upstream database drops connection or stalls.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2. Bounded Timeout: </a:t>
            </a:r>
            <a:r>
              <a:rPr b="0" sz="1200">
                <a:solidFill>
                  <a:srgbClr val="64748B"/>
                </a:solidFill>
              </a:rPr>
              <a:t>Express backend catches upstream timeout at 8s.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3. Shadow Store Write: </a:t>
            </a:r>
            <a:r>
              <a:rPr b="0" sz="1200">
                <a:solidFill>
                  <a:srgbClr val="64748B"/>
                </a:solidFill>
              </a:rPr>
              <a:t>Express immediately writes payload to shadow Map store.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4. Deterministic 200 OK: </a:t>
            </a:r>
            <a:r>
              <a:rPr b="0" sz="1200">
                <a:solidFill>
                  <a:srgbClr val="64748B"/>
                </a:solidFill>
              </a:rPr>
              <a:t>Express returns shadow object with generated UUID.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5. Zero UI Freeze: </a:t>
            </a:r>
            <a:r>
              <a:rPr b="0" sz="1200">
                <a:solidFill>
                  <a:srgbClr val="64748B"/>
                </a:solidFill>
              </a:rPr>
              <a:t>Frontend completes request seamlessly without hanging.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6. Async Audit Log: </a:t>
            </a:r>
            <a:r>
              <a:rPr b="0" sz="1200">
                <a:solidFill>
                  <a:srgbClr val="64748B"/>
                </a:solidFill>
              </a:rPr>
              <a:t>Audit logger records fallback event for admin review.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DATAPULSE FUSION GRC | PROJECT DESIGN PRESENTATION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Database Design: Oracle APEX ORDS Schema (35+ Tables)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57200"/>
            <a:ext cx="13716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Master Lookup Tables (per_mst_*)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per_mst_business_process: </a:t>
            </a:r>
            <a:r>
              <a:rPr b="0" sz="1200">
                <a:solidFill>
                  <a:srgbClr val="64748B"/>
                </a:solidFill>
              </a:rPr>
              <a:t>Business process definitions &amp; sub-processes.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per_mst_risk_statement: </a:t>
            </a:r>
            <a:r>
              <a:rPr b="0" sz="1200">
                <a:solidFill>
                  <a:srgbClr val="64748B"/>
                </a:solidFill>
              </a:rPr>
              <a:t>Standardized risk descriptions &amp; taxonomy.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per_mst_control_register: </a:t>
            </a:r>
            <a:r>
              <a:rPr b="0" sz="1200">
                <a:solidFill>
                  <a:srgbClr val="64748B"/>
                </a:solidFill>
              </a:rPr>
              <a:t>Master control catalog &amp; code mapping.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per_mst_control_category: </a:t>
            </a:r>
            <a:r>
              <a:rPr b="0" sz="1200">
                <a:solidFill>
                  <a:srgbClr val="64748B"/>
                </a:solidFill>
              </a:rPr>
              <a:t>Preventative, Detective, Corrective categories.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per_mst_control_frequency: </a:t>
            </a:r>
            <a:r>
              <a:rPr b="0" sz="1200">
                <a:solidFill>
                  <a:srgbClr val="64748B"/>
                </a:solidFill>
              </a:rPr>
              <a:t>Daily, Weekly, Monthly, Quarterly, Annual.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per_mst_impact &amp; likelihood: </a:t>
            </a:r>
            <a:r>
              <a:rPr b="0" sz="1200">
                <a:solidFill>
                  <a:srgbClr val="64748B"/>
                </a:solidFill>
              </a:rPr>
              <a:t>1-5 scale rating definitions &amp; descriptions.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per_mst_roles &amp; user_details: </a:t>
            </a:r>
            <a:r>
              <a:rPr b="0" sz="1200">
                <a:solidFill>
                  <a:srgbClr val="64748B"/>
                </a:solidFill>
              </a:rPr>
              <a:t>User profile and role permission mappings.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Transaction Tables (per_trn_*)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per_trn_identify_risk: </a:t>
            </a:r>
            <a:r>
              <a:rPr b="0" sz="1200">
                <a:solidFill>
                  <a:srgbClr val="64748B"/>
                </a:solidFill>
              </a:rPr>
              <a:t>Core risk register storing identified risk instances.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per_trn_inherent_risk_assessment: </a:t>
            </a:r>
            <a:r>
              <a:rPr b="0" sz="1200">
                <a:solidFill>
                  <a:srgbClr val="64748B"/>
                </a:solidFill>
              </a:rPr>
              <a:t>Stores impact, likelihood &amp; inherent score.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per_trn_control_implementation: </a:t>
            </a:r>
            <a:r>
              <a:rPr b="0" sz="1200">
                <a:solidFill>
                  <a:srgbClr val="64748B"/>
                </a:solidFill>
              </a:rPr>
              <a:t>Links risks to implemented controls.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per_trn_mitigation_plans: </a:t>
            </a:r>
            <a:r>
              <a:rPr b="0" sz="1200">
                <a:solidFill>
                  <a:srgbClr val="64748B"/>
                </a:solidFill>
              </a:rPr>
              <a:t>Action plan details, owner, target dates.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per_trn_risk_monitoring: </a:t>
            </a:r>
            <a:r>
              <a:rPr b="0" sz="1200">
                <a:solidFill>
                  <a:srgbClr val="64748B"/>
                </a:solidFill>
              </a:rPr>
              <a:t>Periodic review history &amp; monitoring logs.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per_trn_impact_category: </a:t>
            </a:r>
            <a:r>
              <a:rPr b="0" sz="1200">
                <a:solidFill>
                  <a:srgbClr val="64748B"/>
                </a:solidFill>
              </a:rPr>
              <a:t>Detailed financial/operational impact breakdown.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DATAPULSE FUSION GRC | PROJECT DESIGN PRESENTATION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UML State Diagram: Risk Item Lifecycle States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57200"/>
            <a:ext cx="13716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/>
            <a:r>
              <a:rPr b="1" sz="1400">
                <a:solidFill>
                  <a:srgbClr val="0F172A"/>
                </a:solidFill>
              </a:rPr>
              <a:t>State 1: DRAFT — </a:t>
            </a:r>
            <a:r>
              <a:rPr sz="1200">
                <a:solidFill>
                  <a:srgbClr val="334155"/>
                </a:solidFill>
              </a:rPr>
              <a:t>Risk identified but missing assessment ratings. Editable by owner.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/>
            <a:r>
              <a:rPr b="1" sz="1400">
                <a:solidFill>
                  <a:srgbClr val="0F172A"/>
                </a:solidFill>
              </a:rPr>
              <a:t>State 2: SUBMITTED — </a:t>
            </a:r>
            <a:r>
              <a:rPr sz="1200">
                <a:solidFill>
                  <a:srgbClr val="334155"/>
                </a:solidFill>
              </a:rPr>
              <a:t>Inherent ratings assigned. Awaiting control tagging.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/>
            <a:r>
              <a:rPr b="1" sz="1400">
                <a:solidFill>
                  <a:srgbClr val="0F172A"/>
                </a:solidFill>
              </a:rPr>
              <a:t>State 3: UNDER ASSESSMENT — </a:t>
            </a:r>
            <a:r>
              <a:rPr sz="1200">
                <a:solidFill>
                  <a:srgbClr val="334155"/>
                </a:solidFill>
              </a:rPr>
              <a:t>Controls mapped &amp; residual score computed.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43400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/>
            <a:r>
              <a:rPr b="1" sz="1400">
                <a:solidFill>
                  <a:srgbClr val="0F172A"/>
                </a:solidFill>
              </a:rPr>
              <a:t>State 4: MITIGATION PENDING — </a:t>
            </a:r>
            <a:r>
              <a:rPr sz="1200">
                <a:solidFill>
                  <a:srgbClr val="334155"/>
                </a:solidFill>
              </a:rPr>
              <a:t>Residual risk exceeds appetite; action plan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/>
            <a:r>
              <a:rPr b="1" sz="1400">
                <a:solidFill>
                  <a:srgbClr val="0F172A"/>
                </a:solidFill>
              </a:rPr>
              <a:t>State 5: APPROVED / MONITORED — </a:t>
            </a:r>
            <a:r>
              <a:rPr sz="1200">
                <a:solidFill>
                  <a:srgbClr val="334155"/>
                </a:solidFill>
              </a:rPr>
              <a:t>Controls &amp; mitigations verified. Monitored periodically.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DATAPULSE FUSION GRC | PROJECT DESIGN PRESENTATION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User Interface &amp; Wireframe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57200"/>
            <a:ext cx="13716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1. Executive Dashboard UI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Summary Cards: </a:t>
            </a:r>
            <a:r>
              <a:rPr b="0" sz="1200">
                <a:solidFill>
                  <a:srgbClr val="64748B"/>
                </a:solidFill>
              </a:rPr>
              <a:t>Total Risks, Critical Items, Active RCSA Cycles, Compliance Score.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Heatmap Preview: </a:t>
            </a:r>
            <a:r>
              <a:rPr b="0" sz="1200">
                <a:solidFill>
                  <a:srgbClr val="64748B"/>
                </a:solidFill>
              </a:rPr>
              <a:t>Compact 5x5 risk heat matrix.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Action Items: </a:t>
            </a:r>
            <a:r>
              <a:rPr b="0" sz="1200">
                <a:solidFill>
                  <a:srgbClr val="64748B"/>
                </a:solidFill>
              </a:rPr>
              <a:t>Pending approvals and overdue mitigation tasks.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2. RCSA Provisioning UI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Cycle Manager: </a:t>
            </a:r>
            <a:r>
              <a:rPr b="0" sz="1200">
                <a:solidFill>
                  <a:srgbClr val="64748B"/>
                </a:solidFill>
              </a:rPr>
              <a:t>Tabular view of active and archived RCSA cycles.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Provision Modal: </a:t>
            </a:r>
            <a:r>
              <a:rPr b="0" sz="1200">
                <a:solidFill>
                  <a:srgbClr val="64748B"/>
                </a:solidFill>
              </a:rPr>
              <a:t>Form to launch cycles with date pickers &amp; process selectors.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Status Badges: </a:t>
            </a:r>
            <a:r>
              <a:rPr b="0" sz="1200">
                <a:solidFill>
                  <a:srgbClr val="64748B"/>
                </a:solidFill>
              </a:rPr>
              <a:t>Visual pill badges indicating Draft, In Progress, or Closed.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3. Heatmap &amp; Controls UI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5x5 Dynamic Matrix: </a:t>
            </a:r>
            <a:r>
              <a:rPr b="0" sz="1200">
                <a:solidFill>
                  <a:srgbClr val="64748B"/>
                </a:solidFill>
              </a:rPr>
              <a:t>Color-coded cells (Green/Yellow/Orange/Red).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Control Tagging Modal: </a:t>
            </a:r>
            <a:r>
              <a:rPr b="0" sz="1200">
                <a:solidFill>
                  <a:srgbClr val="64748B"/>
                </a:solidFill>
              </a:rPr>
              <a:t>Search master control register and select effectiveness.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Toast Feedback: </a:t>
            </a:r>
            <a:r>
              <a:rPr b="0" sz="1200">
                <a:solidFill>
                  <a:srgbClr val="64748B"/>
                </a:solidFill>
              </a:rPr>
              <a:t>Instant Sonner toast notifications on save/update.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DATAPULSE FUSION GRC | PROJECT DESIGN PRESENTATION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Working Implementation &amp; Demonstrated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57200"/>
            <a:ext cx="13716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Implemented Core Capabilities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Full CRUD Endpoints: </a:t>
            </a:r>
            <a:r>
              <a:rPr b="0" sz="1200">
                <a:solidFill>
                  <a:srgbClr val="64748B"/>
                </a:solidFill>
              </a:rPr>
              <a:t>Tested CRUD operations across 35+ master and transaction tables.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Live 5x5 Heatmap: </a:t>
            </a:r>
            <a:r>
              <a:rPr b="0" sz="1200">
                <a:solidFill>
                  <a:srgbClr val="64748B"/>
                </a:solidFill>
              </a:rPr>
              <a:t>Real-time calculation of Max Impact × Max Likelihood ratings.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Robust Input Validation: </a:t>
            </a:r>
            <a:r>
              <a:rPr b="0" sz="1200">
                <a:solidFill>
                  <a:srgbClr val="64748B"/>
                </a:solidFill>
              </a:rPr>
              <a:t>Automatic rejection of keyboard mash strings (REC-10).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Shadow Store Fallback: </a:t>
            </a:r>
            <a:r>
              <a:rPr b="0" sz="1200">
                <a:solidFill>
                  <a:srgbClr val="64748B"/>
                </a:solidFill>
              </a:rPr>
              <a:t>100% API uptime during upstream DB latency (REC-01).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User Audit Logging: </a:t>
            </a:r>
            <a:r>
              <a:rPr b="0" sz="1200">
                <a:solidFill>
                  <a:srgbClr val="64748B"/>
                </a:solidFill>
              </a:rPr>
              <a:t>User-attributed audit history captured via custom headers (REC-07).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Deployment &amp; Technical Specs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Production Hostinger VPS: </a:t>
            </a:r>
            <a:r>
              <a:rPr b="0" sz="1200">
                <a:solidFill>
                  <a:srgbClr val="64748B"/>
                </a:solidFill>
              </a:rPr>
              <a:t>Backend API live at api.datapulsefusion.com.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Production Frontend: </a:t>
            </a:r>
            <a:r>
              <a:rPr b="0" sz="1200">
                <a:solidFill>
                  <a:srgbClr val="64748B"/>
                </a:solidFill>
              </a:rPr>
              <a:t>Next.js web client live at datapulsefusion.com.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PM2 Process Manager: </a:t>
            </a:r>
            <a:r>
              <a:rPr b="0" sz="1200">
                <a:solidFill>
                  <a:srgbClr val="64748B"/>
                </a:solidFill>
              </a:rPr>
              <a:t>Daemonized process monitoring with zero-downtime reloads.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34155"/>
                </a:solidFill>
              </a:rPr>
              <a:t>• Docker Containerization: </a:t>
            </a:r>
            <a:r>
              <a:rPr b="0" sz="1200">
                <a:solidFill>
                  <a:srgbClr val="64748B"/>
                </a:solidFill>
              </a:rPr>
              <a:t>Dockerfile and docker-compose.yml included for containerized deployment.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PROJECT CONCLUSION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Project Success Highlights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FFFFF"/>
                </a:solidFill>
              </a:rPr>
              <a:t>• Complete GRC System: </a:t>
            </a:r>
            <a:r>
              <a:rPr b="0" sz="1200">
                <a:solidFill>
                  <a:srgbClr val="CBD5E1"/>
                </a:solidFill>
              </a:rPr>
              <a:t>Successfully designed and implemented an enterprise Governance, Risk, &amp; Compliance platform.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FFFFF"/>
                </a:solidFill>
              </a:rPr>
              <a:t>• Academic Excellence: </a:t>
            </a:r>
            <a:r>
              <a:rPr b="0" sz="1200">
                <a:solidFill>
                  <a:srgbClr val="CBD5E1"/>
                </a:solidFill>
              </a:rPr>
              <a:t>Demonstrates software engineering best practices, robust 3-tier architecture, and enterprise database integration.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FFFFF"/>
                </a:solidFill>
              </a:rPr>
              <a:t>• High Resilience: </a:t>
            </a:r>
            <a:r>
              <a:rPr b="0" sz="1200">
                <a:solidFill>
                  <a:srgbClr val="CBD5E1"/>
                </a:solidFill>
              </a:rPr>
              <a:t>Guaranteed system availability through shadow store caching and bounded timeouts.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Future Enhancements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FFFFF"/>
                </a:solidFill>
              </a:rPr>
              <a:t>• AI Predictive Risk Scoring: </a:t>
            </a:r>
            <a:r>
              <a:rPr b="0" sz="1200">
                <a:solidFill>
                  <a:srgbClr val="CBD5E1"/>
                </a:solidFill>
              </a:rPr>
              <a:t>Integrate LLM models to automatically suggest risk ratings based on loss event descriptions.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FFFFF"/>
                </a:solidFill>
              </a:rPr>
              <a:t>• Automated Regulatory Parsing: </a:t>
            </a:r>
            <a:r>
              <a:rPr b="0" sz="1200">
                <a:solidFill>
                  <a:srgbClr val="CBD5E1"/>
                </a:solidFill>
              </a:rPr>
              <a:t>NLP parser to auto-map new compliance laws (GDPR, ISO 27001, SOC 2) to control registers.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FFFFF"/>
                </a:solidFill>
              </a:rPr>
              <a:t>• Mobile Native App: </a:t>
            </a:r>
            <a:r>
              <a:rPr b="0" sz="1200">
                <a:solidFill>
                  <a:srgbClr val="CBD5E1"/>
                </a:solidFill>
              </a:rPr>
              <a:t>React Native companion app for field inspectors and mobile risk approvals.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